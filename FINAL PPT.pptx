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2"/>
  </p:notesMasterIdLst>
  <p:sldIdLst>
    <p:sldId id="257" r:id="rId2"/>
    <p:sldId id="258" r:id="rId3"/>
    <p:sldId id="269" r:id="rId4"/>
    <p:sldId id="303" r:id="rId5"/>
    <p:sldId id="282" r:id="rId6"/>
    <p:sldId id="305" r:id="rId7"/>
    <p:sldId id="286" r:id="rId8"/>
    <p:sldId id="287" r:id="rId9"/>
    <p:sldId id="314" r:id="rId10"/>
    <p:sldId id="322" r:id="rId11"/>
    <p:sldId id="323" r:id="rId12"/>
    <p:sldId id="324" r:id="rId13"/>
    <p:sldId id="325" r:id="rId14"/>
    <p:sldId id="326" r:id="rId15"/>
    <p:sldId id="306" r:id="rId16"/>
    <p:sldId id="315" r:id="rId17"/>
    <p:sldId id="316" r:id="rId18"/>
    <p:sldId id="317" r:id="rId19"/>
    <p:sldId id="318" r:id="rId20"/>
    <p:sldId id="32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5033" autoAdjust="0"/>
  </p:normalViewPr>
  <p:slideViewPr>
    <p:cSldViewPr snapToGrid="0">
      <p:cViewPr varScale="1">
        <p:scale>
          <a:sx n="78" d="100"/>
          <a:sy n="78" d="100"/>
        </p:scale>
        <p:origin x="69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2611AB-DD2F-4C2C-8A21-B611B51E5629}" type="datetimeFigureOut">
              <a:t>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309B8-3DAE-4E64-AC95-9ED0167DE584}" type="slidenum">
              <a:t>‹#›</a:t>
            </a:fld>
            <a:endParaRPr lang="en-US"/>
          </a:p>
        </p:txBody>
      </p:sp>
    </p:spTree>
    <p:extLst>
      <p:ext uri="{BB962C8B-B14F-4D97-AF65-F5344CB8AC3E}">
        <p14:creationId xmlns:p14="http://schemas.microsoft.com/office/powerpoint/2010/main" val="3875464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4538"/>
            <a:ext cx="6627813" cy="3729037"/>
          </a:xfrm>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pPr>
              <a:defRPr/>
            </a:pPr>
            <a:fld id="{2AF8618D-51AD-40EB-86A2-24DEC409AC1E}" type="datetime3">
              <a:rPr lang="en-US" smtClean="0"/>
              <a:pPr>
                <a:defRPr/>
              </a:pPr>
              <a:t>3 January 2026</a:t>
            </a:fld>
            <a:endParaRPr lang="en-US"/>
          </a:p>
        </p:txBody>
      </p:sp>
      <p:sp>
        <p:nvSpPr>
          <p:cNvPr id="5" name="Footer Placeholder 4"/>
          <p:cNvSpPr>
            <a:spLocks noGrp="1"/>
          </p:cNvSpPr>
          <p:nvPr>
            <p:ph type="ftr" sz="quarter" idx="11"/>
          </p:nvPr>
        </p:nvSpPr>
        <p:spPr/>
        <p:txBody>
          <a:bodyPr/>
          <a:lstStyle/>
          <a:p>
            <a:pPr>
              <a:defRPr/>
            </a:pPr>
            <a:r>
              <a:rPr lang="en-US"/>
              <a:t>1-59</a:t>
            </a:r>
          </a:p>
        </p:txBody>
      </p:sp>
      <p:sp>
        <p:nvSpPr>
          <p:cNvPr id="6" name="Slide Number Placeholder 5"/>
          <p:cNvSpPr>
            <a:spLocks noGrp="1"/>
          </p:cNvSpPr>
          <p:nvPr>
            <p:ph type="sldNum" sz="quarter" idx="12"/>
          </p:nvPr>
        </p:nvSpPr>
        <p:spPr/>
        <p:txBody>
          <a:bodyPr/>
          <a:lstStyle/>
          <a:p>
            <a:pPr>
              <a:defRPr/>
            </a:pPr>
            <a:fld id="{2587D5A1-37CC-4B13-9F17-5059BEF349E4}" type="slidenum">
              <a:rPr lang="en-US" smtClean="0"/>
              <a:pPr>
                <a:defRPr/>
              </a:pPr>
              <a:t>1</a:t>
            </a:fld>
            <a:endParaRPr lang="en-US"/>
          </a:p>
        </p:txBody>
      </p:sp>
    </p:spTree>
    <p:extLst>
      <p:ext uri="{BB962C8B-B14F-4D97-AF65-F5344CB8AC3E}">
        <p14:creationId xmlns:p14="http://schemas.microsoft.com/office/powerpoint/2010/main" val="3201279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19" indent="0" algn="r">
              <a:buNone/>
              <a:defRPr>
                <a:solidFill>
                  <a:schemeClr val="tx1"/>
                </a:solidFill>
              </a:defRPr>
            </a:lvl1pPr>
            <a:lvl2pPr marL="457189" indent="0" algn="ctr">
              <a:buNone/>
            </a:lvl2pPr>
            <a:lvl3pPr marL="914377" indent="0" algn="ctr">
              <a:buNone/>
            </a:lvl3pPr>
            <a:lvl4pPr marL="1371566" indent="0" algn="ctr">
              <a:buNone/>
            </a:lvl4pPr>
            <a:lvl5pPr marL="1828754" indent="0" algn="ctr">
              <a:buNone/>
            </a:lvl5pPr>
            <a:lvl6pPr marL="2285943" indent="0" algn="ctr">
              <a:buNone/>
            </a:lvl6pPr>
            <a:lvl7pPr marL="2743131" indent="0" algn="ctr">
              <a:buNone/>
            </a:lvl7pPr>
            <a:lvl8pPr marL="3200320" indent="0" algn="ctr">
              <a:buNone/>
            </a:lvl8pPr>
            <a:lvl9pPr marL="3657509" indent="0" algn="ctr">
              <a:buNone/>
            </a:lvl9pPr>
          </a:lstStyle>
          <a:p>
            <a:r>
              <a:rPr lang="en-US"/>
              <a:t>Click to edit Master subtitle style</a:t>
            </a:r>
          </a:p>
        </p:txBody>
      </p:sp>
      <p:sp>
        <p:nvSpPr>
          <p:cNvPr id="4" name="Date Placeholder 9"/>
          <p:cNvSpPr>
            <a:spLocks noGrp="1"/>
          </p:cNvSpPr>
          <p:nvPr>
            <p:ph type="dt" sz="half" idx="10"/>
          </p:nvPr>
        </p:nvSpPr>
        <p:spPr/>
        <p:txBody>
          <a:bodyPr/>
          <a:lstStyle>
            <a:lvl1pPr>
              <a:defRPr/>
            </a:lvl1pPr>
          </a:lstStyle>
          <a:p>
            <a:pPr>
              <a:defRPr/>
            </a:pPr>
            <a:fld id="{868711EB-544A-4405-9B07-930EC371C035}" type="datetime5">
              <a:rPr lang="en-US" smtClean="0"/>
              <a:pPr>
                <a:defRPr/>
              </a:pPr>
              <a:t>3-Jan-26</a:t>
            </a:fld>
            <a:endParaRPr lang="en-US"/>
          </a:p>
        </p:txBody>
      </p:sp>
      <p:sp>
        <p:nvSpPr>
          <p:cNvPr id="5" name="Footer Placeholder 21"/>
          <p:cNvSpPr>
            <a:spLocks noGrp="1"/>
          </p:cNvSpPr>
          <p:nvPr>
            <p:ph type="ftr" sz="quarter" idx="11"/>
          </p:nvPr>
        </p:nvSpPr>
        <p:spPr>
          <a:xfrm>
            <a:off x="9652000" y="6477000"/>
            <a:ext cx="1930400" cy="381000"/>
          </a:xfrm>
          <a:prstGeom prst="rect">
            <a:avLst/>
          </a:prstGeom>
        </p:spPr>
        <p:txBody>
          <a:bodyPr/>
          <a:lstStyle>
            <a:lvl1pPr>
              <a:defRPr/>
            </a:lvl1pPr>
          </a:lstStyle>
          <a:p>
            <a:pPr>
              <a:defRPr/>
            </a:pPr>
            <a:endParaRPr lang="en-US"/>
          </a:p>
        </p:txBody>
      </p:sp>
    </p:spTree>
  </p:cSld>
  <p:clrMapOvr>
    <a:masterClrMapping/>
  </p:clrMapOvr>
  <p:transition spd="slow">
    <p:push dir="u"/>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E1413D5B-0279-47B2-AB44-E806A00ECAC5}" type="datetime5">
              <a:rPr lang="en-US" smtClean="0"/>
              <a:pPr>
                <a:defRPr/>
              </a:pPr>
              <a:t>3-Jan-26</a:t>
            </a:fld>
            <a:endParaRPr lang="en-US"/>
          </a:p>
        </p:txBody>
      </p:sp>
      <p:sp>
        <p:nvSpPr>
          <p:cNvPr id="5" name="Footer Placeholder 21"/>
          <p:cNvSpPr>
            <a:spLocks noGrp="1"/>
          </p:cNvSpPr>
          <p:nvPr>
            <p:ph type="ftr" sz="quarter" idx="11"/>
          </p:nvPr>
        </p:nvSpPr>
        <p:spPr>
          <a:xfrm>
            <a:off x="9652000" y="6477000"/>
            <a:ext cx="1930400" cy="381000"/>
          </a:xfrm>
          <a:prstGeom prst="rect">
            <a:avLst/>
          </a:prstGeom>
        </p:spPr>
        <p:txBody>
          <a:bodyPr/>
          <a:lstStyle>
            <a:lvl1pPr>
              <a:defRPr/>
            </a:lvl1pPr>
          </a:lstStyle>
          <a:p>
            <a:pPr>
              <a:defRPr/>
            </a:pPr>
            <a:endParaRPr lang="en-US"/>
          </a:p>
        </p:txBody>
      </p:sp>
    </p:spTree>
  </p:cSld>
  <p:clrMapOvr>
    <a:masterClrMapping/>
  </p:clrMapOvr>
  <p:transition spd="slow">
    <p:push dir="u"/>
  </p:transition>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9"/>
          <p:cNvSpPr>
            <a:spLocks noGrp="1"/>
          </p:cNvSpPr>
          <p:nvPr>
            <p:ph type="dt" sz="half" idx="10"/>
          </p:nvPr>
        </p:nvSpPr>
        <p:spPr/>
        <p:txBody>
          <a:bodyPr/>
          <a:lstStyle>
            <a:lvl1pPr>
              <a:defRPr/>
            </a:lvl1pPr>
          </a:lstStyle>
          <a:p>
            <a:pPr>
              <a:defRPr/>
            </a:pPr>
            <a:fld id="{BEE568E9-B9E9-4171-B614-6B8CD7508211}" type="datetime5">
              <a:rPr lang="en-US" smtClean="0"/>
              <a:pPr>
                <a:defRPr/>
              </a:pPr>
              <a:t>3-Jan-26</a:t>
            </a:fld>
            <a:endParaRPr lang="en-US"/>
          </a:p>
        </p:txBody>
      </p:sp>
      <p:sp>
        <p:nvSpPr>
          <p:cNvPr id="5" name="Footer Placeholder 21"/>
          <p:cNvSpPr>
            <a:spLocks noGrp="1"/>
          </p:cNvSpPr>
          <p:nvPr>
            <p:ph type="ftr" sz="quarter" idx="11"/>
          </p:nvPr>
        </p:nvSpPr>
        <p:spPr>
          <a:xfrm>
            <a:off x="9652000" y="6477000"/>
            <a:ext cx="1930400" cy="381000"/>
          </a:xfrm>
          <a:prstGeom prst="rect">
            <a:avLst/>
          </a:prstGeom>
        </p:spPr>
        <p:txBody>
          <a:bodyPr/>
          <a:lstStyle>
            <a:lvl1pPr>
              <a:defRPr/>
            </a:lvl1pPr>
          </a:lstStyle>
          <a:p>
            <a:pPr>
              <a:defRPr/>
            </a:pPr>
            <a:endParaRPr lang="en-US"/>
          </a:p>
        </p:txBody>
      </p:sp>
    </p:spTree>
  </p:cSld>
  <p:clrMapOvr>
    <a:masterClrMapping/>
  </p:clrMapOvr>
  <p:transition spd="slow">
    <p:push dir="u"/>
  </p:transition>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089F4348-0461-4A32-B5EC-44A54333EEB4}" type="datetime5">
              <a:rPr lang="en-US" smtClean="0"/>
              <a:pPr>
                <a:defRPr/>
              </a:pPr>
              <a:t>3-Jan-26</a:t>
            </a:fld>
            <a:endParaRPr lang="en-US"/>
          </a:p>
        </p:txBody>
      </p:sp>
      <p:sp>
        <p:nvSpPr>
          <p:cNvPr id="6" name="Footer Placeholder 21"/>
          <p:cNvSpPr>
            <a:spLocks noGrp="1"/>
          </p:cNvSpPr>
          <p:nvPr>
            <p:ph type="ftr" sz="quarter" idx="11"/>
          </p:nvPr>
        </p:nvSpPr>
        <p:spPr>
          <a:xfrm>
            <a:off x="9652000" y="6477000"/>
            <a:ext cx="1930400" cy="381000"/>
          </a:xfrm>
          <a:prstGeom prst="rect">
            <a:avLst/>
          </a:prstGeom>
        </p:spPr>
        <p:txBody>
          <a:bodyPr/>
          <a:lstStyle>
            <a:lvl1pPr>
              <a:defRPr/>
            </a:lvl1pPr>
          </a:lstStyle>
          <a:p>
            <a:pPr>
              <a:defRPr/>
            </a:pPr>
            <a:endParaRPr lang="en-US"/>
          </a:p>
        </p:txBody>
      </p:sp>
    </p:spTree>
  </p:cSld>
  <p:clrMapOvr>
    <a:masterClrMapping/>
  </p:clrMapOvr>
  <p:transition spd="slow">
    <p:push dir="u"/>
  </p:transition>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193369" y="1859760"/>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9" y="2514600"/>
            <a:ext cx="5389033"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pPr>
              <a:defRPr/>
            </a:pPr>
            <a:fld id="{FAE54709-D76C-492B-9E83-DA5CE41081DB}" type="datetime5">
              <a:rPr lang="en-US" smtClean="0"/>
              <a:pPr>
                <a:defRPr/>
              </a:pPr>
              <a:t>3-Jan-26</a:t>
            </a:fld>
            <a:endParaRPr lang="en-US"/>
          </a:p>
        </p:txBody>
      </p:sp>
      <p:sp>
        <p:nvSpPr>
          <p:cNvPr id="8" name="Footer Placeholder 21"/>
          <p:cNvSpPr>
            <a:spLocks noGrp="1"/>
          </p:cNvSpPr>
          <p:nvPr>
            <p:ph type="ftr" sz="quarter" idx="11"/>
          </p:nvPr>
        </p:nvSpPr>
        <p:spPr>
          <a:xfrm>
            <a:off x="9652000" y="6477000"/>
            <a:ext cx="1930400" cy="381000"/>
          </a:xfrm>
          <a:prstGeom prst="rect">
            <a:avLst/>
          </a:prstGeom>
        </p:spPr>
        <p:txBody>
          <a:bodyPr/>
          <a:lstStyle>
            <a:lvl1pPr>
              <a:defRPr/>
            </a:lvl1pPr>
          </a:lstStyle>
          <a:p>
            <a:pPr>
              <a:defRPr/>
            </a:pPr>
            <a:endParaRPr lang="en-US"/>
          </a:p>
        </p:txBody>
      </p:sp>
    </p:spTree>
  </p:cSld>
  <p:clrMapOvr>
    <a:masterClrMapping/>
  </p:clrMapOvr>
  <p:transition spd="slow">
    <p:push dir="u"/>
  </p:transition>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5105A5D3-A5C5-41BC-AC1B-78376003971C}" type="datetime5">
              <a:rPr lang="en-US" smtClean="0"/>
              <a:pPr>
                <a:defRPr/>
              </a:pPr>
              <a:t>3-Jan-26</a:t>
            </a:fld>
            <a:endParaRPr lang="en-US"/>
          </a:p>
        </p:txBody>
      </p:sp>
      <p:sp>
        <p:nvSpPr>
          <p:cNvPr id="4" name="Footer Placeholder 21"/>
          <p:cNvSpPr>
            <a:spLocks noGrp="1"/>
          </p:cNvSpPr>
          <p:nvPr>
            <p:ph type="ftr" sz="quarter" idx="11"/>
          </p:nvPr>
        </p:nvSpPr>
        <p:spPr>
          <a:xfrm>
            <a:off x="9652000" y="6477000"/>
            <a:ext cx="1930400" cy="381000"/>
          </a:xfrm>
          <a:prstGeom prst="rect">
            <a:avLst/>
          </a:prstGeom>
        </p:spPr>
        <p:txBody>
          <a:bodyPr/>
          <a:lstStyle>
            <a:lvl1pPr>
              <a:defRPr/>
            </a:lvl1pPr>
          </a:lstStyle>
          <a:p>
            <a:pPr>
              <a:defRPr/>
            </a:pPr>
            <a:endParaRPr lang="en-US"/>
          </a:p>
        </p:txBody>
      </p:sp>
    </p:spTree>
  </p:cSld>
  <p:clrMapOvr>
    <a:masterClrMapping/>
  </p:clrMapOvr>
  <p:transition spd="slow">
    <p:push dir="u"/>
  </p:transition>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28EA4A47-561E-465A-A6B1-ADF332ABEB53}" type="datetime5">
              <a:rPr lang="en-US" smtClean="0"/>
              <a:pPr>
                <a:defRPr/>
              </a:pPr>
              <a:t>3-Jan-26</a:t>
            </a:fld>
            <a:endParaRPr lang="en-US"/>
          </a:p>
        </p:txBody>
      </p:sp>
      <p:sp>
        <p:nvSpPr>
          <p:cNvPr id="3" name="Footer Placeholder 21"/>
          <p:cNvSpPr>
            <a:spLocks noGrp="1"/>
          </p:cNvSpPr>
          <p:nvPr>
            <p:ph type="ftr" sz="quarter" idx="11"/>
          </p:nvPr>
        </p:nvSpPr>
        <p:spPr>
          <a:xfrm>
            <a:off x="9652000" y="6477000"/>
            <a:ext cx="1930400" cy="381000"/>
          </a:xfrm>
          <a:prstGeom prst="rect">
            <a:avLst/>
          </a:prstGeom>
        </p:spPr>
        <p:txBody>
          <a:bodyPr/>
          <a:lstStyle>
            <a:lvl1pPr>
              <a:defRPr/>
            </a:lvl1pPr>
          </a:lstStyle>
          <a:p>
            <a:pPr>
              <a:defRPr/>
            </a:pPr>
            <a:endParaRPr lang="en-US"/>
          </a:p>
        </p:txBody>
      </p:sp>
    </p:spTree>
  </p:cSld>
  <p:clrMapOvr>
    <a:masterClrMapping/>
  </p:clrMapOvr>
  <p:transition spd="slow">
    <p:push dir="u"/>
  </p:transition>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C4629B9D-76A3-483C-9F6A-540A7409809D}" type="datetime5">
              <a:rPr lang="en-US" smtClean="0"/>
              <a:pPr>
                <a:defRPr/>
              </a:pPr>
              <a:t>3-Jan-26</a:t>
            </a:fld>
            <a:endParaRPr lang="en-US"/>
          </a:p>
        </p:txBody>
      </p:sp>
      <p:sp>
        <p:nvSpPr>
          <p:cNvPr id="6" name="Footer Placeholder 21"/>
          <p:cNvSpPr>
            <a:spLocks noGrp="1"/>
          </p:cNvSpPr>
          <p:nvPr>
            <p:ph type="ftr" sz="quarter" idx="11"/>
          </p:nvPr>
        </p:nvSpPr>
        <p:spPr>
          <a:xfrm>
            <a:off x="9652000" y="6477000"/>
            <a:ext cx="1930400" cy="381000"/>
          </a:xfrm>
          <a:prstGeom prst="rect">
            <a:avLst/>
          </a:prstGeom>
        </p:spPr>
        <p:txBody>
          <a:bodyPr/>
          <a:lstStyle>
            <a:lvl1pPr>
              <a:defRPr/>
            </a:lvl1pPr>
          </a:lstStyle>
          <a:p>
            <a:pPr>
              <a:defRPr/>
            </a:pPr>
            <a:endParaRPr lang="en-US"/>
          </a:p>
        </p:txBody>
      </p:sp>
    </p:spTree>
  </p:cSld>
  <p:clrMapOvr>
    <a:masterClrMapping/>
  </p:clrMapOvr>
  <p:transition spd="slow">
    <p:push dir="u"/>
  </p:transition>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4220633" y="1108075"/>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ight Triangle 5"/>
          <p:cNvSpPr/>
          <p:nvPr/>
        </p:nvSpPr>
        <p:spPr>
          <a:xfrm rot="420000" flipV="1">
            <a:off x="10672236" y="5359403"/>
            <a:ext cx="207433"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Freeform 6"/>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sz="1800">
              <a:latin typeface="+mn-lt"/>
              <a:cs typeface="+mn-cs"/>
            </a:endParaRPr>
          </a:p>
        </p:txBody>
      </p:sp>
      <p:sp>
        <p:nvSpPr>
          <p:cNvPr id="8" name="Freeform 7"/>
          <p:cNvSpPr>
            <a:spLocks/>
          </p:cNvSpPr>
          <p:nvPr/>
        </p:nvSpPr>
        <p:spPr bwMode="auto">
          <a:xfrm flipV="1">
            <a:off x="5842000" y="6219828"/>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sz="1800">
              <a:latin typeface="+mn-lt"/>
              <a:cs typeface="+mn-cs"/>
            </a:endParaRPr>
          </a:p>
        </p:txBody>
      </p:sp>
      <p:sp>
        <p:nvSpPr>
          <p:cNvPr id="2" name="Title 1"/>
          <p:cNvSpPr>
            <a:spLocks noGrp="1"/>
          </p:cNvSpPr>
          <p:nvPr>
            <p:ph type="title"/>
          </p:nvPr>
        </p:nvSpPr>
        <p:spPr>
          <a:xfrm>
            <a:off x="812800" y="1176999"/>
            <a:ext cx="2950464"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a:lstStyle>
            <a:lvl1pPr marL="0" indent="0" algn="l">
              <a:spcBef>
                <a:spcPts val="251"/>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p>
        </p:txBody>
      </p:sp>
      <p:sp>
        <p:nvSpPr>
          <p:cNvPr id="9" name="Date Placeholder 4"/>
          <p:cNvSpPr>
            <a:spLocks noGrp="1"/>
          </p:cNvSpPr>
          <p:nvPr>
            <p:ph type="dt" sz="half" idx="10"/>
          </p:nvPr>
        </p:nvSpPr>
        <p:spPr/>
        <p:txBody>
          <a:bodyPr/>
          <a:lstStyle>
            <a:lvl1pPr>
              <a:defRPr/>
            </a:lvl1pPr>
          </a:lstStyle>
          <a:p>
            <a:pPr>
              <a:defRPr/>
            </a:pPr>
            <a:fld id="{63AE52A7-64DF-4833-A86F-A3F47E2AC27C}" type="datetime5">
              <a:rPr lang="en-US" smtClean="0"/>
              <a:pPr>
                <a:defRPr/>
              </a:pPr>
              <a:t>3-Jan-26</a:t>
            </a:fld>
            <a:endParaRPr lang="en-US"/>
          </a:p>
        </p:txBody>
      </p:sp>
      <p:sp>
        <p:nvSpPr>
          <p:cNvPr id="10" name="Footer Placeholder 5"/>
          <p:cNvSpPr>
            <a:spLocks noGrp="1"/>
          </p:cNvSpPr>
          <p:nvPr>
            <p:ph type="ftr" sz="quarter" idx="11"/>
          </p:nvPr>
        </p:nvSpPr>
        <p:spPr>
          <a:xfrm>
            <a:off x="9652000" y="6477000"/>
            <a:ext cx="1930400" cy="381000"/>
          </a:xfrm>
          <a:prstGeom prst="rect">
            <a:avLst/>
          </a:prstGeom>
        </p:spPr>
        <p:txBody>
          <a:bodyPr/>
          <a:lstStyle>
            <a:lvl1pPr>
              <a:defRPr/>
            </a:lvl1pPr>
          </a:lstStyle>
          <a:p>
            <a:pPr>
              <a:defRPr/>
            </a:pPr>
            <a:endParaRPr lang="en-US"/>
          </a:p>
        </p:txBody>
      </p:sp>
    </p:spTree>
  </p:cSld>
  <p:clrMapOvr>
    <a:masterClrMapping/>
  </p:clrMapOvr>
  <p:transition spd="slow">
    <p:push dir="u"/>
  </p:transition>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0DA4E39E-479B-4003-953E-8F945459897C}" type="datetime5">
              <a:rPr lang="en-US" smtClean="0"/>
              <a:pPr>
                <a:defRPr/>
              </a:pPr>
              <a:t>3-Jan-26</a:t>
            </a:fld>
            <a:endParaRPr lang="en-US"/>
          </a:p>
        </p:txBody>
      </p:sp>
      <p:sp>
        <p:nvSpPr>
          <p:cNvPr id="5" name="Footer Placeholder 21"/>
          <p:cNvSpPr>
            <a:spLocks noGrp="1"/>
          </p:cNvSpPr>
          <p:nvPr>
            <p:ph type="ftr" sz="quarter" idx="11"/>
          </p:nvPr>
        </p:nvSpPr>
        <p:spPr>
          <a:xfrm>
            <a:off x="9652000" y="6477000"/>
            <a:ext cx="1930400" cy="381000"/>
          </a:xfrm>
          <a:prstGeom prst="rect">
            <a:avLst/>
          </a:prstGeom>
        </p:spPr>
        <p:txBody>
          <a:bodyPr/>
          <a:lstStyle>
            <a:lvl1pPr>
              <a:defRPr/>
            </a:lvl1pPr>
          </a:lstStyle>
          <a:p>
            <a:pPr>
              <a:defRPr/>
            </a:pPr>
            <a:endParaRPr lang="en-US"/>
          </a:p>
        </p:txBody>
      </p:sp>
    </p:spTree>
  </p:cSld>
  <p:clrMapOvr>
    <a:masterClrMapping/>
  </p:clrMapOvr>
  <p:transition spd="slow">
    <p:push dir="u"/>
  </p:transition>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1176DFE3-E17F-466C-8AC1-52E2468DF967}" type="datetime5">
              <a:rPr lang="en-US" smtClean="0"/>
              <a:pPr>
                <a:defRPr/>
              </a:pPr>
              <a:t>3-Jan-26</a:t>
            </a:fld>
            <a:endParaRPr lang="en-US"/>
          </a:p>
        </p:txBody>
      </p:sp>
      <p:sp>
        <p:nvSpPr>
          <p:cNvPr id="5" name="Footer Placeholder 21"/>
          <p:cNvSpPr>
            <a:spLocks noGrp="1"/>
          </p:cNvSpPr>
          <p:nvPr>
            <p:ph type="ftr" sz="quarter" idx="11"/>
          </p:nvPr>
        </p:nvSpPr>
        <p:spPr>
          <a:xfrm>
            <a:off x="9652000" y="6477000"/>
            <a:ext cx="1930400" cy="381000"/>
          </a:xfrm>
          <a:prstGeom prst="rect">
            <a:avLst/>
          </a:prstGeom>
        </p:spPr>
        <p:txBody>
          <a:bodyPr/>
          <a:lstStyle>
            <a:lvl1pPr>
              <a:defRPr/>
            </a:lvl1pPr>
          </a:lstStyle>
          <a:p>
            <a:pPr>
              <a:defRPr/>
            </a:pPr>
            <a:endParaRPr lang="en-US"/>
          </a:p>
        </p:txBody>
      </p:sp>
    </p:spTree>
  </p:cSld>
  <p:clrMapOvr>
    <a:masterClrMapping/>
  </p:clrMapOvr>
  <p:transition spd="slow">
    <p:push dir="u"/>
  </p:transition>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E9595922-CB65-4694-88E1-0389563862D8}" type="datetime5">
              <a:rPr lang="en-US" smtClean="0"/>
              <a:pPr>
                <a:defRPr/>
              </a:pPr>
              <a:t>3-Jan-26</a:t>
            </a:fld>
            <a:endParaRPr lang="en-US"/>
          </a:p>
        </p:txBody>
      </p:sp>
      <p:sp>
        <p:nvSpPr>
          <p:cNvPr id="4" name="Footer Placeholder 3"/>
          <p:cNvSpPr>
            <a:spLocks noGrp="1"/>
          </p:cNvSpPr>
          <p:nvPr>
            <p:ph type="ftr" sz="quarter" idx="11"/>
          </p:nvPr>
        </p:nvSpPr>
        <p:spPr>
          <a:xfrm>
            <a:off x="9652000" y="6477000"/>
            <a:ext cx="1930400" cy="381000"/>
          </a:xfrm>
          <a:prstGeom prst="rect">
            <a:avLst/>
          </a:prstGeom>
        </p:spPr>
        <p:txBody>
          <a:bodyPr/>
          <a:lstStyle/>
          <a:p>
            <a:pPr>
              <a:defRPr/>
            </a:pPr>
            <a:endParaRPr lang="en-US"/>
          </a:p>
        </p:txBody>
      </p:sp>
    </p:spTree>
  </p:cSld>
  <p:clrMapOvr>
    <a:masterClrMapping/>
  </p:clrMapOvr>
  <p:transition spd="slow">
    <p:push dir="u"/>
  </p:transition>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26" name="Title Placeholder 8"/>
          <p:cNvSpPr>
            <a:spLocks noGrp="1"/>
          </p:cNvSpPr>
          <p:nvPr>
            <p:ph type="title"/>
          </p:nvPr>
        </p:nvSpPr>
        <p:spPr bwMode="auto">
          <a:xfrm>
            <a:off x="609600" y="704850"/>
            <a:ext cx="109728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a:t>Click to edit Master title style</a:t>
            </a:r>
          </a:p>
        </p:txBody>
      </p:sp>
      <p:sp>
        <p:nvSpPr>
          <p:cNvPr id="1027" name="Text Placeholder 29"/>
          <p:cNvSpPr>
            <a:spLocks noGrp="1"/>
          </p:cNvSpPr>
          <p:nvPr>
            <p:ph type="body" idx="1"/>
          </p:nvPr>
        </p:nvSpPr>
        <p:spPr bwMode="auto">
          <a:xfrm>
            <a:off x="609600" y="1935166"/>
            <a:ext cx="109728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09600" y="6356353"/>
            <a:ext cx="2844800" cy="365125"/>
          </a:xfrm>
          <a:prstGeom prst="rect">
            <a:avLst/>
          </a:prstGeom>
        </p:spPr>
        <p:txBody>
          <a:bodyPr vert="horz" lIns="0" tIns="0" rIns="0" bIns="0" anchor="b"/>
          <a:lstStyle>
            <a:lvl1pPr algn="l" eaLnBrk="1" fontAlgn="auto" latinLnBrk="0" hangingPunct="1">
              <a:spcBef>
                <a:spcPts val="0"/>
              </a:spcBef>
              <a:spcAft>
                <a:spcPts val="0"/>
              </a:spcAft>
              <a:defRPr kumimoji="0" sz="1000">
                <a:solidFill>
                  <a:schemeClr val="tx1"/>
                </a:solidFill>
                <a:latin typeface="+mn-lt"/>
                <a:cs typeface="+mn-cs"/>
              </a:defRPr>
            </a:lvl1pPr>
          </a:lstStyle>
          <a:p>
            <a:pPr>
              <a:defRPr/>
            </a:pPr>
            <a:fld id="{F9D6E878-1374-43BF-9C46-281CCE7F38C1}" type="datetime5">
              <a:rPr lang="en-US" smtClean="0"/>
              <a:pPr>
                <a:defRPr/>
              </a:pPr>
              <a:t>3-Jan-26</a:t>
            </a:fld>
            <a:endParaRPr lang="en-US"/>
          </a:p>
        </p:txBody>
      </p:sp>
    </p:spTree>
  </p:cSld>
  <p:clrMap bg1="lt1" tx1="dk1" bg2="lt2" tx2="dk2" accent1="accent1" accent2="accent2" accent3="accent3" accent4="accent4" accent5="accent5" accent6="accent6" hlink="hlink" folHlink="folHlink"/>
  <p:sldLayoutIdLst>
    <p:sldLayoutId id="2147484565" r:id="rId1"/>
    <p:sldLayoutId id="2147484566" r:id="rId2"/>
    <p:sldLayoutId id="2147484567" r:id="rId3"/>
    <p:sldLayoutId id="2147484568" r:id="rId4"/>
    <p:sldLayoutId id="2147484569" r:id="rId5"/>
    <p:sldLayoutId id="2147484570" r:id="rId6"/>
    <p:sldLayoutId id="2147484571" r:id="rId7"/>
    <p:sldLayoutId id="2147484572" r:id="rId8"/>
    <p:sldLayoutId id="2147484575" r:id="rId9"/>
    <p:sldLayoutId id="2147484573" r:id="rId10"/>
    <p:sldLayoutId id="2147484574" r:id="rId11"/>
    <p:sldLayoutId id="2147484603" r:id="rId12"/>
  </p:sldLayoutIdLst>
  <p:transition spd="slow">
    <p:push dir="u"/>
  </p:transition>
  <p:hf hdr="0" ftr="0"/>
  <p:txStyles>
    <p:titleStyle>
      <a:lvl1pPr algn="l" rtl="0" eaLnBrk="0" fontAlgn="base" hangingPunct="0">
        <a:spcBef>
          <a:spcPct val="0"/>
        </a:spcBef>
        <a:spcAft>
          <a:spcPct val="0"/>
        </a:spcAft>
        <a:defRPr sz="3200" kern="1200">
          <a:solidFill>
            <a:schemeClr val="accent1"/>
          </a:solidFill>
          <a:latin typeface="+mj-lt"/>
          <a:ea typeface="+mj-ea"/>
          <a:cs typeface="+mj-cs"/>
        </a:defRPr>
      </a:lvl1pPr>
      <a:lvl2pPr algn="l" rtl="0" eaLnBrk="0" fontAlgn="base" hangingPunct="0">
        <a:spcBef>
          <a:spcPct val="0"/>
        </a:spcBef>
        <a:spcAft>
          <a:spcPct val="0"/>
        </a:spcAft>
        <a:defRPr sz="3200">
          <a:solidFill>
            <a:schemeClr val="accent1"/>
          </a:solidFill>
          <a:latin typeface="Arial" charset="0"/>
        </a:defRPr>
      </a:lvl2pPr>
      <a:lvl3pPr algn="l" rtl="0" eaLnBrk="0" fontAlgn="base" hangingPunct="0">
        <a:spcBef>
          <a:spcPct val="0"/>
        </a:spcBef>
        <a:spcAft>
          <a:spcPct val="0"/>
        </a:spcAft>
        <a:defRPr sz="3200">
          <a:solidFill>
            <a:schemeClr val="accent1"/>
          </a:solidFill>
          <a:latin typeface="Arial" charset="0"/>
        </a:defRPr>
      </a:lvl3pPr>
      <a:lvl4pPr algn="l" rtl="0" eaLnBrk="0" fontAlgn="base" hangingPunct="0">
        <a:spcBef>
          <a:spcPct val="0"/>
        </a:spcBef>
        <a:spcAft>
          <a:spcPct val="0"/>
        </a:spcAft>
        <a:defRPr sz="3200">
          <a:solidFill>
            <a:schemeClr val="accent1"/>
          </a:solidFill>
          <a:latin typeface="Arial" charset="0"/>
        </a:defRPr>
      </a:lvl4pPr>
      <a:lvl5pPr algn="l" rtl="0" eaLnBrk="0" fontAlgn="base" hangingPunct="0">
        <a:spcBef>
          <a:spcPct val="0"/>
        </a:spcBef>
        <a:spcAft>
          <a:spcPct val="0"/>
        </a:spcAft>
        <a:defRPr sz="3200">
          <a:solidFill>
            <a:schemeClr val="accent1"/>
          </a:solidFill>
          <a:latin typeface="Arial" charset="0"/>
        </a:defRPr>
      </a:lvl5pPr>
      <a:lvl6pPr marL="457189" algn="l" rtl="0" fontAlgn="base">
        <a:spcBef>
          <a:spcPct val="0"/>
        </a:spcBef>
        <a:spcAft>
          <a:spcPct val="0"/>
        </a:spcAft>
        <a:defRPr sz="5000">
          <a:solidFill>
            <a:schemeClr val="tx2"/>
          </a:solidFill>
          <a:latin typeface="Calibri" pitchFamily="34" charset="0"/>
        </a:defRPr>
      </a:lvl6pPr>
      <a:lvl7pPr marL="914377" algn="l" rtl="0" fontAlgn="base">
        <a:spcBef>
          <a:spcPct val="0"/>
        </a:spcBef>
        <a:spcAft>
          <a:spcPct val="0"/>
        </a:spcAft>
        <a:defRPr sz="5000">
          <a:solidFill>
            <a:schemeClr val="tx2"/>
          </a:solidFill>
          <a:latin typeface="Calibri" pitchFamily="34" charset="0"/>
        </a:defRPr>
      </a:lvl7pPr>
      <a:lvl8pPr marL="1371566" algn="l" rtl="0" fontAlgn="base">
        <a:spcBef>
          <a:spcPct val="0"/>
        </a:spcBef>
        <a:spcAft>
          <a:spcPct val="0"/>
        </a:spcAft>
        <a:defRPr sz="5000">
          <a:solidFill>
            <a:schemeClr val="tx2"/>
          </a:solidFill>
          <a:latin typeface="Calibri" pitchFamily="34" charset="0"/>
        </a:defRPr>
      </a:lvl8pPr>
      <a:lvl9pPr marL="1828754" algn="l" rtl="0" fontAlgn="base">
        <a:spcBef>
          <a:spcPct val="0"/>
        </a:spcBef>
        <a:spcAft>
          <a:spcPct val="0"/>
        </a:spcAft>
        <a:defRPr sz="5000">
          <a:solidFill>
            <a:schemeClr val="tx2"/>
          </a:solidFill>
          <a:latin typeface="Calibri" pitchFamily="34" charset="0"/>
        </a:defRPr>
      </a:lvl9pPr>
    </p:titleStyle>
    <p:bodyStyle>
      <a:lvl1pPr marL="273044" indent="-273044" algn="l" rtl="0" eaLnBrk="0" fontAlgn="base" hangingPunct="0">
        <a:spcBef>
          <a:spcPct val="20000"/>
        </a:spcBef>
        <a:spcAft>
          <a:spcPct val="0"/>
        </a:spcAft>
        <a:buSzPct val="80000"/>
        <a:buFont typeface="Wingdings" pitchFamily="2" charset="2"/>
        <a:buChar char="Ø"/>
        <a:defRPr sz="2000" kern="1200">
          <a:solidFill>
            <a:schemeClr val="tx1"/>
          </a:solidFill>
          <a:latin typeface="+mn-lt"/>
          <a:ea typeface="+mn-ea"/>
          <a:cs typeface="+mn-cs"/>
        </a:defRPr>
      </a:lvl1pPr>
      <a:lvl2pPr marL="639747" indent="-246057" algn="l" rtl="0" eaLnBrk="0" fontAlgn="base" hangingPunct="0">
        <a:spcBef>
          <a:spcPct val="20000"/>
        </a:spcBef>
        <a:spcAft>
          <a:spcPct val="0"/>
        </a:spcAft>
        <a:buSzPct val="80000"/>
        <a:buFont typeface="Wingdings" pitchFamily="2" charset="2"/>
        <a:buChar char="Ø"/>
        <a:defRPr sz="2000" kern="1200">
          <a:solidFill>
            <a:schemeClr val="tx1"/>
          </a:solidFill>
          <a:latin typeface="+mn-lt"/>
          <a:ea typeface="+mn-ea"/>
          <a:cs typeface="+mn-cs"/>
        </a:defRPr>
      </a:lvl2pPr>
      <a:lvl3pPr marL="914377" indent="-246057" algn="l" rtl="0" eaLnBrk="0" fontAlgn="base" hangingPunct="0">
        <a:spcBef>
          <a:spcPct val="20000"/>
        </a:spcBef>
        <a:spcAft>
          <a:spcPct val="0"/>
        </a:spcAft>
        <a:buSzPct val="80000"/>
        <a:buFont typeface="Wingdings" pitchFamily="2" charset="2"/>
        <a:buChar char="Ø"/>
        <a:defRPr sz="2000" kern="1200">
          <a:solidFill>
            <a:schemeClr val="tx1"/>
          </a:solidFill>
          <a:latin typeface="+mn-lt"/>
          <a:ea typeface="+mn-ea"/>
          <a:cs typeface="+mn-cs"/>
        </a:defRPr>
      </a:lvl3pPr>
      <a:lvl4pPr marL="1187421" indent="-209545" algn="l" rtl="0" eaLnBrk="0" fontAlgn="base" hangingPunct="0">
        <a:spcBef>
          <a:spcPct val="20000"/>
        </a:spcBef>
        <a:spcAft>
          <a:spcPct val="0"/>
        </a:spcAft>
        <a:buSzPct val="80000"/>
        <a:buFont typeface="Wingdings" pitchFamily="2" charset="2"/>
        <a:buChar char="Ø"/>
        <a:defRPr sz="2000" kern="1200">
          <a:solidFill>
            <a:schemeClr val="tx1"/>
          </a:solidFill>
          <a:latin typeface="+mn-lt"/>
          <a:ea typeface="+mn-ea"/>
          <a:cs typeface="+mn-cs"/>
        </a:defRPr>
      </a:lvl4pPr>
      <a:lvl5pPr marL="1462051" indent="-209545" algn="l" rtl="0" eaLnBrk="0" fontAlgn="base" hangingPunct="0">
        <a:spcBef>
          <a:spcPct val="20000"/>
        </a:spcBef>
        <a:spcAft>
          <a:spcPct val="0"/>
        </a:spcAft>
        <a:buSzPct val="80000"/>
        <a:buFont typeface="Wingdings" pitchFamily="2" charset="2"/>
        <a:buChar char="Ø"/>
        <a:defRPr sz="2000" kern="1200">
          <a:solidFill>
            <a:schemeClr val="tx1"/>
          </a:solidFill>
          <a:latin typeface="+mn-lt"/>
          <a:ea typeface="+mn-ea"/>
          <a:cs typeface="+mn-cs"/>
        </a:defRPr>
      </a:lvl5pPr>
      <a:lvl6pPr marL="1737317" indent="-210307"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192" indent="-182875"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05" indent="-182875"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18" indent="-182875"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189" algn="l" rtl="0" eaLnBrk="1" latinLnBrk="0" hangingPunct="1">
        <a:defRPr kumimoji="0" kern="1200">
          <a:solidFill>
            <a:schemeClr val="tx1"/>
          </a:solidFill>
          <a:latin typeface="+mn-lt"/>
          <a:ea typeface="+mn-ea"/>
          <a:cs typeface="+mn-cs"/>
        </a:defRPr>
      </a:lvl2pPr>
      <a:lvl3pPr marL="914377" algn="l" rtl="0" eaLnBrk="1" latinLnBrk="0" hangingPunct="1">
        <a:defRPr kumimoji="0" kern="1200">
          <a:solidFill>
            <a:schemeClr val="tx1"/>
          </a:solidFill>
          <a:latin typeface="+mn-lt"/>
          <a:ea typeface="+mn-ea"/>
          <a:cs typeface="+mn-cs"/>
        </a:defRPr>
      </a:lvl3pPr>
      <a:lvl4pPr marL="1371566" algn="l" rtl="0" eaLnBrk="1" latinLnBrk="0" hangingPunct="1">
        <a:defRPr kumimoji="0" kern="1200">
          <a:solidFill>
            <a:schemeClr val="tx1"/>
          </a:solidFill>
          <a:latin typeface="+mn-lt"/>
          <a:ea typeface="+mn-ea"/>
          <a:cs typeface="+mn-cs"/>
        </a:defRPr>
      </a:lvl4pPr>
      <a:lvl5pPr marL="1828754" algn="l" rtl="0" eaLnBrk="1" latinLnBrk="0" hangingPunct="1">
        <a:defRPr kumimoji="0" kern="1200">
          <a:solidFill>
            <a:schemeClr val="tx1"/>
          </a:solidFill>
          <a:latin typeface="+mn-lt"/>
          <a:ea typeface="+mn-ea"/>
          <a:cs typeface="+mn-cs"/>
        </a:defRPr>
      </a:lvl5pPr>
      <a:lvl6pPr marL="2285943" algn="l" rtl="0" eaLnBrk="1" latinLnBrk="0" hangingPunct="1">
        <a:defRPr kumimoji="0" kern="1200">
          <a:solidFill>
            <a:schemeClr val="tx1"/>
          </a:solidFill>
          <a:latin typeface="+mn-lt"/>
          <a:ea typeface="+mn-ea"/>
          <a:cs typeface="+mn-cs"/>
        </a:defRPr>
      </a:lvl6pPr>
      <a:lvl7pPr marL="2743131" algn="l" rtl="0" eaLnBrk="1" latinLnBrk="0" hangingPunct="1">
        <a:defRPr kumimoji="0" kern="1200">
          <a:solidFill>
            <a:schemeClr val="tx1"/>
          </a:solidFill>
          <a:latin typeface="+mn-lt"/>
          <a:ea typeface="+mn-ea"/>
          <a:cs typeface="+mn-cs"/>
        </a:defRPr>
      </a:lvl7pPr>
      <a:lvl8pPr marL="3200320" algn="l" rtl="0" eaLnBrk="1" latinLnBrk="0" hangingPunct="1">
        <a:defRPr kumimoji="0" kern="1200">
          <a:solidFill>
            <a:schemeClr val="tx1"/>
          </a:solidFill>
          <a:latin typeface="+mn-lt"/>
          <a:ea typeface="+mn-ea"/>
          <a:cs typeface="+mn-cs"/>
        </a:defRPr>
      </a:lvl8pPr>
      <a:lvl9pPr marL="3657509"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lum/>
          </a:blip>
          <a:srcRect/>
          <a:tile tx="0" ty="0" sx="100000" sy="80000" flip="none" algn="tl"/>
        </a:blipFill>
        <a:effectLst/>
      </p:bgPr>
    </p:bg>
    <p:spTree>
      <p:nvGrpSpPr>
        <p:cNvPr id="1" name=""/>
        <p:cNvGrpSpPr/>
        <p:nvPr/>
      </p:nvGrpSpPr>
      <p:grpSpPr>
        <a:xfrm>
          <a:off x="0" y="0"/>
          <a:ext cx="0" cy="0"/>
          <a:chOff x="0" y="0"/>
          <a:chExt cx="0" cy="0"/>
        </a:xfrm>
      </p:grpSpPr>
      <p:sp>
        <p:nvSpPr>
          <p:cNvPr id="6" name="TextBox 5"/>
          <p:cNvSpPr txBox="1"/>
          <p:nvPr/>
        </p:nvSpPr>
        <p:spPr>
          <a:xfrm>
            <a:off x="2821859" y="52744"/>
            <a:ext cx="9370143" cy="1338828"/>
          </a:xfrm>
          <a:prstGeom prst="rect">
            <a:avLst/>
          </a:prstGeom>
          <a:noFill/>
        </p:spPr>
        <p:txBody>
          <a:bodyPr wrap="square" lIns="91440" tIns="45720" rIns="91440" bIns="45720" rtlCol="0" anchor="t">
            <a:spAutoFit/>
          </a:bodyPr>
          <a:lstStyle/>
          <a:p>
            <a:pPr algn="ctr"/>
            <a:r>
              <a:rPr lang="en-US" sz="2800" b="1" dirty="0">
                <a:ln w="0"/>
                <a:solidFill>
                  <a:srgbClr val="0000FF"/>
                </a:solidFill>
                <a:effectLst>
                  <a:outerShdw blurRad="38100" dist="25400" dir="5400000" algn="ctr" rotWithShape="0">
                    <a:srgbClr val="6E747A">
                      <a:alpha val="43000"/>
                    </a:srgbClr>
                  </a:outerShdw>
                </a:effectLst>
                <a:latin typeface="Times New Roman"/>
                <a:cs typeface="Times New Roman"/>
              </a:rPr>
              <a:t>KONGU ENGINEERING COLLEGE</a:t>
            </a:r>
            <a:r>
              <a:rPr lang="en-US" sz="2400" b="1" dirty="0">
                <a:ln w="0"/>
                <a:solidFill>
                  <a:schemeClr val="accent1"/>
                </a:solidFill>
                <a:effectLst>
                  <a:outerShdw blurRad="38100" dist="25400" dir="5400000" algn="ctr" rotWithShape="0">
                    <a:srgbClr val="6E747A">
                      <a:alpha val="43000"/>
                    </a:srgbClr>
                  </a:outerShdw>
                </a:effectLst>
                <a:latin typeface="Times New Roman"/>
                <a:cs typeface="Times New Roman"/>
              </a:rPr>
              <a:t> </a:t>
            </a:r>
            <a:endParaRPr lang="en-US" sz="2400" dirty="0">
              <a:solidFill>
                <a:schemeClr val="accent1"/>
              </a:solidFill>
            </a:endParaRPr>
          </a:p>
          <a:p>
            <a:pPr algn="ctr">
              <a:spcAft>
                <a:spcPts val="600"/>
              </a:spcAft>
            </a:pPr>
            <a:r>
              <a:rPr lang="en-US" sz="2000" b="1" dirty="0">
                <a:ln w="0"/>
                <a:solidFill>
                  <a:schemeClr val="accent6">
                    <a:lumMod val="50000"/>
                  </a:schemeClr>
                </a:solidFill>
                <a:effectLst>
                  <a:outerShdw blurRad="38100" dist="25400" dir="5400000" algn="ctr" rotWithShape="0">
                    <a:srgbClr val="6E747A">
                      <a:alpha val="43000"/>
                    </a:srgbClr>
                  </a:outerShdw>
                </a:effectLst>
                <a:latin typeface="Times New Roman"/>
                <a:cs typeface="Times New Roman"/>
              </a:rPr>
              <a:t>PERUNDURAI ERODE-638060</a:t>
            </a:r>
            <a:endParaRPr lang="en-US" sz="2400" b="1" dirty="0">
              <a:ln w="0"/>
              <a:solidFill>
                <a:schemeClr val="accent1"/>
              </a:solidFill>
              <a:effectLst>
                <a:outerShdw blurRad="38100" dist="25400" dir="5400000" algn="ctr" rotWithShape="0">
                  <a:srgbClr val="6E747A">
                    <a:alpha val="43000"/>
                  </a:srgbClr>
                </a:outerShdw>
              </a:effectLst>
              <a:latin typeface="Times New Roman" pitchFamily="18" charset="0"/>
              <a:cs typeface="Times New Roman" pitchFamily="18" charset="0"/>
            </a:endParaRPr>
          </a:p>
          <a:p>
            <a:pPr algn="ctr">
              <a:spcAft>
                <a:spcPts val="600"/>
              </a:spcAft>
            </a:pPr>
            <a:r>
              <a:rPr lang="en-US" sz="2800" b="1" dirty="0">
                <a:ln w="0"/>
                <a:solidFill>
                  <a:srgbClr val="0000FF"/>
                </a:solidFill>
                <a:effectLst>
                  <a:outerShdw blurRad="38100" dist="25400" dir="5400000" algn="ctr" rotWithShape="0">
                    <a:srgbClr val="6E747A">
                      <a:alpha val="43000"/>
                    </a:srgbClr>
                  </a:outerShdw>
                </a:effectLst>
                <a:latin typeface="Times New Roman"/>
                <a:cs typeface="Times New Roman"/>
              </a:rPr>
              <a:t>DEPARTMENT OF COMPUTER APPLICATIONS</a:t>
            </a:r>
            <a:endParaRPr lang="en-US" sz="2800" b="1" dirty="0">
              <a:ln w="0"/>
              <a:solidFill>
                <a:srgbClr val="0000FF"/>
              </a:solidFill>
              <a:effectLst>
                <a:outerShdw blurRad="38100" dist="25400" dir="5400000" algn="ctr" rotWithShape="0">
                  <a:srgbClr val="6E747A">
                    <a:alpha val="43000"/>
                  </a:srgbClr>
                </a:outerShdw>
              </a:effectLst>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7F0139EF-2A66-D072-EE94-3876695C0D0B}"/>
              </a:ext>
            </a:extLst>
          </p:cNvPr>
          <p:cNvSpPr txBox="1"/>
          <p:nvPr/>
        </p:nvSpPr>
        <p:spPr>
          <a:xfrm>
            <a:off x="2753032" y="2370565"/>
            <a:ext cx="974376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SMART CONSTRUCTION MATERIALS MANAGEMENT SYSTEM</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1780202-0FAE-90D7-6098-C2F01AB9A93B}"/>
              </a:ext>
            </a:extLst>
          </p:cNvPr>
          <p:cNvPicPr>
            <a:picLocks noChangeAspect="1"/>
          </p:cNvPicPr>
          <p:nvPr/>
        </p:nvPicPr>
        <p:blipFill>
          <a:blip r:embed="rId4" cstate="print">
            <a:extLst>
              <a:ext uri="{28A0092B-C50C-407E-A947-70E740481C1C}">
                <a14:useLocalDpi xmlns:a14="http://schemas.microsoft.com/office/drawing/2010/main" val="0"/>
              </a:ext>
            </a:extLst>
          </a:blip>
          <a:srcRect l="115" t="30654" r="2410" b="15535"/>
          <a:stretch>
            <a:fillRect/>
          </a:stretch>
        </p:blipFill>
        <p:spPr>
          <a:xfrm>
            <a:off x="1327300" y="1532056"/>
            <a:ext cx="1799358" cy="1238619"/>
          </a:xfrm>
          <a:prstGeom prst="rect">
            <a:avLst/>
          </a:prstGeom>
        </p:spPr>
      </p:pic>
      <p:pic>
        <p:nvPicPr>
          <p:cNvPr id="8" name="Picture 7">
            <a:extLst>
              <a:ext uri="{FF2B5EF4-FFF2-40B4-BE49-F238E27FC236}">
                <a16:creationId xmlns:a16="http://schemas.microsoft.com/office/drawing/2014/main" id="{21212D5C-B6D6-DFC1-E9B6-2D30A9BAE3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17627" y="5434781"/>
            <a:ext cx="2595716" cy="1423219"/>
          </a:xfrm>
          <a:prstGeom prst="rect">
            <a:avLst/>
          </a:prstGeom>
        </p:spPr>
      </p:pic>
      <p:sp>
        <p:nvSpPr>
          <p:cNvPr id="9" name="TextBox 8">
            <a:extLst>
              <a:ext uri="{FF2B5EF4-FFF2-40B4-BE49-F238E27FC236}">
                <a16:creationId xmlns:a16="http://schemas.microsoft.com/office/drawing/2014/main" id="{A50D42BD-50D8-B1AB-916A-8C6D88890AEF}"/>
              </a:ext>
            </a:extLst>
          </p:cNvPr>
          <p:cNvSpPr txBox="1"/>
          <p:nvPr/>
        </p:nvSpPr>
        <p:spPr>
          <a:xfrm>
            <a:off x="3273149" y="4178152"/>
            <a:ext cx="6250328" cy="830997"/>
          </a:xfrm>
          <a:prstGeom prst="rect">
            <a:avLst/>
          </a:prstGeom>
          <a:noFill/>
        </p:spPr>
        <p:txBody>
          <a:bodyPr wrap="square">
            <a:spAutoFit/>
          </a:bodyPr>
          <a:lstStyle/>
          <a:p>
            <a:r>
              <a:rPr lang="en-US" sz="2400" b="1" dirty="0">
                <a:solidFill>
                  <a:srgbClr val="FF0000"/>
                </a:solidFill>
                <a:latin typeface="Times New Roman" pitchFamily="18" charset="0"/>
                <a:cs typeface="Times New Roman" pitchFamily="18" charset="0"/>
              </a:rPr>
              <a:t>Guide:</a:t>
            </a:r>
          </a:p>
          <a:p>
            <a:r>
              <a:rPr lang="en-US" sz="2400" b="1" dirty="0" err="1">
                <a:latin typeface="Times New Roman" pitchFamily="18" charset="0"/>
                <a:cs typeface="Times New Roman" pitchFamily="18" charset="0"/>
              </a:rPr>
              <a:t>Dr.M.JAGADEESAN</a:t>
            </a:r>
            <a:endParaRPr lang="en-US" sz="2400" b="1" dirty="0">
              <a:latin typeface="Times New Roman" pitchFamily="18" charset="0"/>
              <a:cs typeface="Times New Roman" pitchFamily="18" charset="0"/>
            </a:endParaRPr>
          </a:p>
        </p:txBody>
      </p:sp>
      <p:sp>
        <p:nvSpPr>
          <p:cNvPr id="11" name="TextBox 10">
            <a:extLst>
              <a:ext uri="{FF2B5EF4-FFF2-40B4-BE49-F238E27FC236}">
                <a16:creationId xmlns:a16="http://schemas.microsoft.com/office/drawing/2014/main" id="{04CD2A63-2AA5-E8AE-5D05-AF300BD9D651}"/>
              </a:ext>
            </a:extLst>
          </p:cNvPr>
          <p:cNvSpPr txBox="1"/>
          <p:nvPr/>
        </p:nvSpPr>
        <p:spPr>
          <a:xfrm>
            <a:off x="5648446" y="3895898"/>
            <a:ext cx="6250328" cy="1815882"/>
          </a:xfrm>
          <a:prstGeom prst="rect">
            <a:avLst/>
          </a:prstGeom>
          <a:noFill/>
        </p:spPr>
        <p:txBody>
          <a:bodyPr wrap="square">
            <a:spAutoFit/>
          </a:bodyPr>
          <a:lstStyle/>
          <a:p>
            <a:endParaRPr lang="en-US" sz="2400" b="1" dirty="0">
              <a:latin typeface="Times New Roman"/>
              <a:ea typeface="Cambria"/>
              <a:cs typeface="Times New Roman"/>
            </a:endParaRPr>
          </a:p>
          <a:p>
            <a:pPr algn="r"/>
            <a:r>
              <a:rPr lang="en-US" sz="2000" b="1" dirty="0">
                <a:latin typeface="Times New Roman" panose="02020603050405020304" pitchFamily="18" charset="0"/>
                <a:cs typeface="Times New Roman" panose="02020603050405020304" pitchFamily="18" charset="0"/>
              </a:rPr>
              <a:t>                               Done by, </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                               BALAJI HARIAHARN N S</a:t>
            </a:r>
          </a:p>
          <a:p>
            <a:pPr algn="r"/>
            <a:r>
              <a:rPr lang="en-US" sz="2000" b="1" dirty="0">
                <a:latin typeface="Times New Roman" panose="02020603050405020304" pitchFamily="18" charset="0"/>
                <a:cs typeface="Times New Roman" panose="02020603050405020304" pitchFamily="18" charset="0"/>
              </a:rPr>
              <a:t>24MCR008</a:t>
            </a:r>
          </a:p>
          <a:p>
            <a:r>
              <a:rPr lang="en-US" sz="2400" b="1" dirty="0">
                <a:solidFill>
                  <a:schemeClr val="tx1">
                    <a:lumMod val="95000"/>
                    <a:lumOff val="5000"/>
                  </a:schemeClr>
                </a:solidFill>
                <a:latin typeface="Times New Roman"/>
                <a:ea typeface="Cambria"/>
                <a:cs typeface="Times New Roman"/>
              </a:rPr>
              <a:t>                             </a:t>
            </a:r>
            <a:r>
              <a:rPr lang="en-IN" sz="2400" b="1" dirty="0">
                <a:solidFill>
                  <a:schemeClr val="tx1">
                    <a:lumMod val="95000"/>
                    <a:lumOff val="5000"/>
                  </a:schemeClr>
                </a:solidFill>
                <a:latin typeface="Times New Roman"/>
                <a:ea typeface="Cambria"/>
                <a:cs typeface="Times New Roman"/>
              </a:rPr>
              <a:t>                             </a:t>
            </a:r>
            <a:endParaRPr 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5053930"/>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7F6DA81-86C0-34C3-0A06-52A1FBA25422}"/>
              </a:ext>
            </a:extLst>
          </p:cNvPr>
          <p:cNvSpPr>
            <a:spLocks noGrp="1"/>
          </p:cNvSpPr>
          <p:nvPr>
            <p:ph type="dt" sz="half" idx="10"/>
          </p:nvPr>
        </p:nvSpPr>
        <p:spPr/>
        <p:txBody>
          <a:bodyPr/>
          <a:lstStyle/>
          <a:p>
            <a:pPr>
              <a:defRPr/>
            </a:pPr>
            <a:fld id="{E1413D5B-0279-47B2-AB44-E806A00ECAC5}" type="datetime5">
              <a:rPr lang="en-US" smtClean="0"/>
              <a:pPr>
                <a:defRPr/>
              </a:pPr>
              <a:t>3-Jan-26</a:t>
            </a:fld>
            <a:endParaRPr lang="en-US" dirty="0"/>
          </a:p>
        </p:txBody>
      </p:sp>
      <p:sp>
        <p:nvSpPr>
          <p:cNvPr id="2" name="TextBox 1">
            <a:extLst>
              <a:ext uri="{FF2B5EF4-FFF2-40B4-BE49-F238E27FC236}">
                <a16:creationId xmlns:a16="http://schemas.microsoft.com/office/drawing/2014/main" id="{24D1180F-66AA-83A9-31D8-AABAC5624BF7}"/>
              </a:ext>
            </a:extLst>
          </p:cNvPr>
          <p:cNvSpPr txBox="1"/>
          <p:nvPr/>
        </p:nvSpPr>
        <p:spPr>
          <a:xfrm>
            <a:off x="1011811" y="673189"/>
            <a:ext cx="1043608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solidFill>
                  <a:srgbClr val="FF0000"/>
                </a:solidFill>
                <a:latin typeface="Times New Roman"/>
                <a:cs typeface="Times New Roman"/>
              </a:rPr>
              <a:t>INTRODUCTION</a:t>
            </a:r>
            <a:endParaRPr lang="en-US" sz="2800" b="1" dirty="0">
              <a:latin typeface="Times New Roman"/>
              <a:cs typeface="Times New Roman"/>
            </a:endParaRPr>
          </a:p>
        </p:txBody>
      </p:sp>
      <p:sp>
        <p:nvSpPr>
          <p:cNvPr id="3" name="TextBox 2">
            <a:extLst>
              <a:ext uri="{FF2B5EF4-FFF2-40B4-BE49-F238E27FC236}">
                <a16:creationId xmlns:a16="http://schemas.microsoft.com/office/drawing/2014/main" id="{C890BB17-49F0-4A19-F93F-2DDBF995DBEE}"/>
              </a:ext>
            </a:extLst>
          </p:cNvPr>
          <p:cNvSpPr txBox="1"/>
          <p:nvPr/>
        </p:nvSpPr>
        <p:spPr>
          <a:xfrm>
            <a:off x="802069" y="2073071"/>
            <a:ext cx="1102995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400" dirty="0"/>
              <a:t>	</a:t>
            </a:r>
            <a:endParaRPr lang="en-IN" sz="2800" dirty="0">
              <a:latin typeface="Times New Roman" pitchFamily="18" charset="0"/>
              <a:cs typeface="Times New Roman" pitchFamily="18" charset="0"/>
            </a:endParaRPr>
          </a:p>
        </p:txBody>
      </p:sp>
      <p:sp>
        <p:nvSpPr>
          <p:cNvPr id="10" name="TextBox 9">
            <a:extLst>
              <a:ext uri="{FF2B5EF4-FFF2-40B4-BE49-F238E27FC236}">
                <a16:creationId xmlns:a16="http://schemas.microsoft.com/office/drawing/2014/main" id="{C6E57E96-4D99-F016-E3D3-A7207BE2B86E}"/>
              </a:ext>
            </a:extLst>
          </p:cNvPr>
          <p:cNvSpPr txBox="1"/>
          <p:nvPr/>
        </p:nvSpPr>
        <p:spPr>
          <a:xfrm>
            <a:off x="1330960" y="1783080"/>
            <a:ext cx="10266680" cy="4457952"/>
          </a:xfrm>
          <a:prstGeom prst="rect">
            <a:avLst/>
          </a:prstGeom>
          <a:noFill/>
        </p:spPr>
        <p:txBody>
          <a:bodyPr wrap="square" rtlCol="0">
            <a:spAutoFit/>
          </a:bodyPr>
          <a:lstStyle/>
          <a:p>
            <a:pPr marL="342900" lvl="0" indent="-342900" eaLnBrk="0" fontAlgn="base" hangingPunct="0">
              <a:lnSpc>
                <a:spcPct val="150000"/>
              </a:lnSpc>
              <a:spcBef>
                <a:spcPct val="0"/>
              </a:spcBef>
              <a:spcAft>
                <a:spcPct val="0"/>
              </a:spcAft>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The construction industry is growing rapidly with increasing demand for cement and steel.</a:t>
            </a:r>
          </a:p>
          <a:p>
            <a:pPr marL="342900" lvl="0" indent="-342900" eaLnBrk="0" fontAlgn="base" hangingPunct="0">
              <a:lnSpc>
                <a:spcPct val="150000"/>
              </a:lnSpc>
              <a:spcBef>
                <a:spcPct val="0"/>
              </a:spcBef>
              <a:spcAft>
                <a:spcPct val="0"/>
              </a:spcAft>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Traditional purchasing methods involve manual orders, phone calls, and physical visits.</a:t>
            </a:r>
          </a:p>
          <a:p>
            <a:pPr marL="342900" lvl="0" indent="-342900" eaLnBrk="0" fontAlgn="base" hangingPunct="0">
              <a:lnSpc>
                <a:spcPct val="150000"/>
              </a:lnSpc>
              <a:spcBef>
                <a:spcPct val="0"/>
              </a:spcBef>
              <a:spcAft>
                <a:spcPct val="0"/>
              </a:spcAft>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These methods often cause delays, errors, and lack of proper tracking.</a:t>
            </a:r>
          </a:p>
          <a:p>
            <a:pPr marL="342900" lvl="0" indent="-342900" eaLnBrk="0" fontAlgn="base" hangingPunct="0">
              <a:lnSpc>
                <a:spcPct val="150000"/>
              </a:lnSpc>
              <a:spcBef>
                <a:spcPct val="0"/>
              </a:spcBef>
              <a:spcAft>
                <a:spcPct val="0"/>
              </a:spcAft>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A digital platform is needed to simplify ordering, payment, and management.</a:t>
            </a:r>
          </a:p>
          <a:p>
            <a:pPr marL="342900" lvl="0" indent="-342900" eaLnBrk="0" fontAlgn="base" hangingPunct="0">
              <a:lnSpc>
                <a:spcPct val="150000"/>
              </a:lnSpc>
              <a:spcBef>
                <a:spcPct val="0"/>
              </a:spcBef>
              <a:spcAft>
                <a:spcPct val="0"/>
              </a:spcAft>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This system provides an online solution for construction material procurement.</a:t>
            </a:r>
          </a:p>
          <a:p>
            <a:pPr marL="342900" indent="-342900">
              <a:lnSpc>
                <a:spcPct val="150000"/>
              </a:lnSpc>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549346"/>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2167" y="0"/>
            <a:ext cx="10972800" cy="742951"/>
          </a:xfrm>
        </p:spPr>
        <p:txBody>
          <a:bodyPr/>
          <a:lstStyle/>
          <a:p>
            <a:pPr algn="ctr"/>
            <a:r>
              <a:rPr lang="en-US" b="1" dirty="0">
                <a:solidFill>
                  <a:srgbClr val="FF0000"/>
                </a:solidFill>
                <a:latin typeface="Times New Roman" pitchFamily="18" charset="0"/>
                <a:cs typeface="Times New Roman" pitchFamily="18" charset="0"/>
              </a:rPr>
              <a:t>PROBLEM STATEMENTS</a:t>
            </a:r>
            <a:endParaRPr lang="en-IN" b="1" dirty="0">
              <a:solidFill>
                <a:srgbClr val="FF0000"/>
              </a:solidFill>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E08BC12E-ACC7-22FA-05B6-395D8CC38252}"/>
              </a:ext>
            </a:extLst>
          </p:cNvPr>
          <p:cNvSpPr>
            <a:spLocks noGrp="1"/>
          </p:cNvSpPr>
          <p:nvPr>
            <p:ph type="dt" sz="half" idx="10"/>
          </p:nvPr>
        </p:nvSpPr>
        <p:spPr/>
        <p:txBody>
          <a:bodyPr/>
          <a:lstStyle/>
          <a:p>
            <a:pPr>
              <a:defRPr/>
            </a:pPr>
            <a:fld id="{E1413D5B-0279-47B2-AB44-E806A00ECAC5}" type="datetime5">
              <a:rPr lang="en-US" smtClean="0"/>
              <a:pPr>
                <a:defRPr/>
              </a:pPr>
              <a:t>3-Jan-26</a:t>
            </a:fld>
            <a:endParaRPr lang="en-US"/>
          </a:p>
        </p:txBody>
      </p:sp>
      <p:sp>
        <p:nvSpPr>
          <p:cNvPr id="5" name="Rectangle 2">
            <a:extLst>
              <a:ext uri="{FF2B5EF4-FFF2-40B4-BE49-F238E27FC236}">
                <a16:creationId xmlns:a16="http://schemas.microsoft.com/office/drawing/2014/main" id="{1CC52666-481B-205E-F599-40AE454C2533}"/>
              </a:ext>
            </a:extLst>
          </p:cNvPr>
          <p:cNvSpPr>
            <a:spLocks noGrp="1" noChangeArrowheads="1"/>
          </p:cNvSpPr>
          <p:nvPr>
            <p:ph idx="1"/>
          </p:nvPr>
        </p:nvSpPr>
        <p:spPr bwMode="auto">
          <a:xfrm>
            <a:off x="1339267" y="601533"/>
            <a:ext cx="10380784" cy="611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current method of ordering construction materials is mostly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consumes more time and requires extra effort from both customers and shop owners.</a:t>
            </a:r>
          </a:p>
          <a:p>
            <a:pPr marR="0" lvl="0" algn="just"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Customers and business owners face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difficulty in tracking orders and payment status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there is no proper system to view updates in real time.</a:t>
            </a:r>
          </a:p>
          <a:p>
            <a:pPr marR="0" lvl="0" algn="just"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lack of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stock information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makes it hard to know whether materials are available, leading to delays or incorrect orders.</a:t>
            </a:r>
          </a:p>
          <a:p>
            <a:pPr marR="0" lvl="0" algn="just"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Billing and record maintenance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often done manually, which increases the chance of mistakes and makes data management difficult.</a:t>
            </a:r>
          </a:p>
          <a:p>
            <a:pPr marR="0" lvl="0" algn="just"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centralized platform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administrators to monitor products, orders, payments, and inventory efficiently.</a:t>
            </a:r>
          </a:p>
        </p:txBody>
      </p:sp>
    </p:spTree>
    <p:extLst>
      <p:ext uri="{BB962C8B-B14F-4D97-AF65-F5344CB8AC3E}">
        <p14:creationId xmlns:p14="http://schemas.microsoft.com/office/powerpoint/2010/main" val="1438833820"/>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DE1DC-0086-B596-B037-84D1A5FA5A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D48F4F-B2F6-97E2-9595-CC5BD65CC47A}"/>
              </a:ext>
            </a:extLst>
          </p:cNvPr>
          <p:cNvSpPr>
            <a:spLocks noGrp="1"/>
          </p:cNvSpPr>
          <p:nvPr>
            <p:ph type="title"/>
          </p:nvPr>
        </p:nvSpPr>
        <p:spPr>
          <a:xfrm>
            <a:off x="725129" y="189186"/>
            <a:ext cx="10972800" cy="1143000"/>
          </a:xfrm>
        </p:spPr>
        <p:txBody>
          <a:bodyPr/>
          <a:lstStyle/>
          <a:p>
            <a:pPr algn="ctr"/>
            <a:r>
              <a:rPr lang="en-IN" b="1" dirty="0">
                <a:solidFill>
                  <a:srgbClr val="FF0000"/>
                </a:solidFill>
                <a:latin typeface="Times New Roman" panose="02020603050405020304" pitchFamily="18" charset="0"/>
                <a:cs typeface="Times New Roman" panose="02020603050405020304" pitchFamily="18" charset="0"/>
              </a:rPr>
              <a:t>PROPOSED SYSTEM</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9CEF901-2AAC-C732-6289-F1D51A8E38C8}"/>
              </a:ext>
            </a:extLst>
          </p:cNvPr>
          <p:cNvSpPr>
            <a:spLocks noGrp="1"/>
          </p:cNvSpPr>
          <p:nvPr>
            <p:ph type="dt" sz="half" idx="10"/>
          </p:nvPr>
        </p:nvSpPr>
        <p:spPr/>
        <p:txBody>
          <a:bodyPr/>
          <a:lstStyle/>
          <a:p>
            <a:pPr>
              <a:defRPr/>
            </a:pPr>
            <a:fld id="{E1413D5B-0279-47B2-AB44-E806A00ECAC5}" type="datetime5">
              <a:rPr lang="en-US" smtClean="0"/>
              <a:pPr>
                <a:defRPr/>
              </a:pPr>
              <a:t>3-Jan-26</a:t>
            </a:fld>
            <a:endParaRPr lang="en-US"/>
          </a:p>
        </p:txBody>
      </p:sp>
      <p:sp>
        <p:nvSpPr>
          <p:cNvPr id="3" name="Rectangle 1">
            <a:extLst>
              <a:ext uri="{FF2B5EF4-FFF2-40B4-BE49-F238E27FC236}">
                <a16:creationId xmlns:a16="http://schemas.microsoft.com/office/drawing/2014/main" id="{EC3CAF68-D516-CD17-6246-98655F71CD18}"/>
              </a:ext>
            </a:extLst>
          </p:cNvPr>
          <p:cNvSpPr>
            <a:spLocks noGrp="1" noChangeArrowheads="1"/>
          </p:cNvSpPr>
          <p:nvPr>
            <p:ph idx="1"/>
          </p:nvPr>
        </p:nvSpPr>
        <p:spPr bwMode="auto">
          <a:xfrm>
            <a:off x="1200751" y="972968"/>
            <a:ext cx="10497178" cy="5565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is developed as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platform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helps in managing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steel and cement materials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easily through an online interface.</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provides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handling of products, orders, and inventory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reduces manual work and saves time.</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includes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authentication mechanism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ensure that only authorized users and administrators can access their respective modules.</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offers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stock updates and order tracking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allowing users and admins to know the current status of materials and orders instantly.</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dashboard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provided to manage products, customers, orders, and payments efficiently from a single place.</a:t>
            </a:r>
          </a:p>
        </p:txBody>
      </p:sp>
    </p:spTree>
    <p:extLst>
      <p:ext uri="{BB962C8B-B14F-4D97-AF65-F5344CB8AC3E}">
        <p14:creationId xmlns:p14="http://schemas.microsoft.com/office/powerpoint/2010/main" val="82159567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EACC27E-A51F-FBD8-4046-21793247B8FB}"/>
              </a:ext>
            </a:extLst>
          </p:cNvPr>
          <p:cNvSpPr>
            <a:spLocks noGrp="1"/>
          </p:cNvSpPr>
          <p:nvPr>
            <p:ph type="title"/>
          </p:nvPr>
        </p:nvSpPr>
        <p:spPr>
          <a:xfrm>
            <a:off x="976132" y="148096"/>
            <a:ext cx="10972800" cy="1143000"/>
          </a:xfrm>
        </p:spPr>
        <p:txBody>
          <a:bodyPr/>
          <a:lstStyle/>
          <a:p>
            <a:pPr algn="ctr"/>
            <a:r>
              <a:rPr lang="en-IN" dirty="0">
                <a:solidFill>
                  <a:srgbClr val="FF0000"/>
                </a:solidFill>
                <a:latin typeface="Times New Roman" panose="02020603050405020304" pitchFamily="18" charset="0"/>
                <a:cs typeface="Times New Roman" panose="02020603050405020304" pitchFamily="18" charset="0"/>
              </a:rPr>
              <a:t>SPECIFICATIONS</a:t>
            </a:r>
            <a:endParaRPr lang="en-IN" dirty="0"/>
          </a:p>
        </p:txBody>
      </p:sp>
      <p:sp>
        <p:nvSpPr>
          <p:cNvPr id="12" name="Text Placeholder 11">
            <a:extLst>
              <a:ext uri="{FF2B5EF4-FFF2-40B4-BE49-F238E27FC236}">
                <a16:creationId xmlns:a16="http://schemas.microsoft.com/office/drawing/2014/main" id="{AD83D53E-CE8F-B504-2A2B-1630CC4441CC}"/>
              </a:ext>
            </a:extLst>
          </p:cNvPr>
          <p:cNvSpPr>
            <a:spLocks noGrp="1"/>
          </p:cNvSpPr>
          <p:nvPr>
            <p:ph type="body" idx="1"/>
          </p:nvPr>
        </p:nvSpPr>
        <p:spPr>
          <a:xfrm>
            <a:off x="976132" y="1843674"/>
            <a:ext cx="5386917" cy="659352"/>
          </a:xfrm>
        </p:spPr>
        <p:txBody>
          <a:bodyPr/>
          <a:lstStyle/>
          <a:p>
            <a:r>
              <a:rPr lang="en-IN" dirty="0">
                <a:solidFill>
                  <a:srgbClr val="FF0000"/>
                </a:solidFill>
                <a:latin typeface="Times New Roman" panose="02020603050405020304" pitchFamily="18" charset="0"/>
                <a:cs typeface="Times New Roman" panose="02020603050405020304" pitchFamily="18" charset="0"/>
              </a:rPr>
              <a:t>HARDWARE SPECIFICATIONS</a:t>
            </a:r>
          </a:p>
        </p:txBody>
      </p:sp>
      <p:sp>
        <p:nvSpPr>
          <p:cNvPr id="13" name="Text Placeholder 12">
            <a:extLst>
              <a:ext uri="{FF2B5EF4-FFF2-40B4-BE49-F238E27FC236}">
                <a16:creationId xmlns:a16="http://schemas.microsoft.com/office/drawing/2014/main" id="{C3C750C9-EA44-7C3A-5159-AAA88E256653}"/>
              </a:ext>
            </a:extLst>
          </p:cNvPr>
          <p:cNvSpPr>
            <a:spLocks noGrp="1"/>
          </p:cNvSpPr>
          <p:nvPr>
            <p:ph type="body" sz="half" idx="3"/>
          </p:nvPr>
        </p:nvSpPr>
        <p:spPr>
          <a:xfrm>
            <a:off x="6756752" y="1843674"/>
            <a:ext cx="5389033" cy="654843"/>
          </a:xfrm>
        </p:spPr>
        <p:txBody>
          <a:bodyPr/>
          <a:lstStyle/>
          <a:p>
            <a:r>
              <a:rPr lang="en-IN" dirty="0">
                <a:solidFill>
                  <a:srgbClr val="FF0000"/>
                </a:solidFill>
                <a:latin typeface="Times New Roman" panose="02020603050405020304" pitchFamily="18" charset="0"/>
                <a:cs typeface="Times New Roman" panose="02020603050405020304" pitchFamily="18" charset="0"/>
              </a:rPr>
              <a:t>SOFTWARE SPECIFICATIONS</a:t>
            </a:r>
          </a:p>
        </p:txBody>
      </p:sp>
      <p:sp>
        <p:nvSpPr>
          <p:cNvPr id="8" name="Content Placeholder 7">
            <a:extLst>
              <a:ext uri="{FF2B5EF4-FFF2-40B4-BE49-F238E27FC236}">
                <a16:creationId xmlns:a16="http://schemas.microsoft.com/office/drawing/2014/main" id="{60930EAE-5596-16AF-6531-FFC7FB6F1555}"/>
              </a:ext>
            </a:extLst>
          </p:cNvPr>
          <p:cNvSpPr>
            <a:spLocks noGrp="1"/>
          </p:cNvSpPr>
          <p:nvPr>
            <p:ph sz="quarter" idx="2"/>
          </p:nvPr>
        </p:nvSpPr>
        <p:spPr>
          <a:xfrm>
            <a:off x="976132" y="2503026"/>
            <a:ext cx="5386917" cy="3845720"/>
          </a:xfrm>
        </p:spPr>
        <p:txBody>
          <a:bodyPr/>
          <a:lstStyle/>
          <a:p>
            <a:pPr marL="0" indent="0">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Processor</a:t>
            </a:r>
            <a:r>
              <a:rPr lang="en-IN" dirty="0">
                <a:latin typeface="Times New Roman" panose="02020603050405020304" pitchFamily="18" charset="0"/>
                <a:cs typeface="Times New Roman" panose="02020603050405020304" pitchFamily="18" charset="0"/>
              </a:rPr>
              <a:t> : Intel i3 or equivalent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Hard Disk</a:t>
            </a:r>
            <a:r>
              <a:rPr lang="en-IN" dirty="0">
                <a:latin typeface="Times New Roman" panose="02020603050405020304" pitchFamily="18" charset="0"/>
                <a:cs typeface="Times New Roman" panose="02020603050405020304" pitchFamily="18" charset="0"/>
              </a:rPr>
              <a:t> : Minimum 20 GB</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RAM</a:t>
            </a:r>
            <a:r>
              <a:rPr lang="en-IN" dirty="0">
                <a:latin typeface="Times New Roman" panose="02020603050405020304" pitchFamily="18" charset="0"/>
                <a:cs typeface="Times New Roman" panose="02020603050405020304" pitchFamily="18" charset="0"/>
              </a:rPr>
              <a:t> : Minimum 4 GB</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Keyboard</a:t>
            </a:r>
            <a:r>
              <a:rPr lang="en-IN" dirty="0">
                <a:latin typeface="Times New Roman" panose="02020603050405020304" pitchFamily="18" charset="0"/>
                <a:cs typeface="Times New Roman" panose="02020603050405020304" pitchFamily="18" charset="0"/>
              </a:rPr>
              <a:t> : Standard 104 Keys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Mouse</a:t>
            </a:r>
            <a:r>
              <a:rPr lang="en-IN" dirty="0">
                <a:latin typeface="Times New Roman" panose="02020603050405020304" pitchFamily="18" charset="0"/>
                <a:cs typeface="Times New Roman" panose="02020603050405020304" pitchFamily="18" charset="0"/>
              </a:rPr>
              <a:t> : Wired / Wireless Mouse</a:t>
            </a:r>
          </a:p>
          <a:p>
            <a:endParaRPr lang="en-IN" dirty="0"/>
          </a:p>
        </p:txBody>
      </p:sp>
      <p:sp>
        <p:nvSpPr>
          <p:cNvPr id="15" name="Content Placeholder 14">
            <a:extLst>
              <a:ext uri="{FF2B5EF4-FFF2-40B4-BE49-F238E27FC236}">
                <a16:creationId xmlns:a16="http://schemas.microsoft.com/office/drawing/2014/main" id="{674F41CF-09E7-FC09-EFD5-B3C1A5E7006C}"/>
              </a:ext>
            </a:extLst>
          </p:cNvPr>
          <p:cNvSpPr>
            <a:spLocks noGrp="1"/>
          </p:cNvSpPr>
          <p:nvPr>
            <p:ph sz="quarter" idx="4"/>
          </p:nvPr>
        </p:nvSpPr>
        <p:spPr>
          <a:xfrm>
            <a:off x="6756753" y="2503026"/>
            <a:ext cx="5389033" cy="3845720"/>
          </a:xfrm>
        </p:spPr>
        <p:txBody>
          <a:bodyPr/>
          <a:lstStyle/>
          <a:p>
            <a:pPr marL="0" indent="0">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Operating System</a:t>
            </a:r>
            <a:r>
              <a:rPr lang="en-IN" dirty="0">
                <a:latin typeface="Times New Roman" panose="02020603050405020304" pitchFamily="18" charset="0"/>
                <a:cs typeface="Times New Roman" panose="02020603050405020304" pitchFamily="18" charset="0"/>
              </a:rPr>
              <a:t> : Windows 10 / Windows 11</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Frontend</a:t>
            </a:r>
            <a:r>
              <a:rPr lang="en-IN" dirty="0">
                <a:latin typeface="Times New Roman" panose="02020603050405020304" pitchFamily="18" charset="0"/>
                <a:cs typeface="Times New Roman" panose="02020603050405020304" pitchFamily="18" charset="0"/>
              </a:rPr>
              <a:t> : React.js (Vite)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Backend</a:t>
            </a:r>
            <a:r>
              <a:rPr lang="en-IN" dirty="0">
                <a:latin typeface="Times New Roman" panose="02020603050405020304" pitchFamily="18" charset="0"/>
                <a:cs typeface="Times New Roman" panose="02020603050405020304" pitchFamily="18" charset="0"/>
              </a:rPr>
              <a:t> : Node.js, Express.js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Database</a:t>
            </a:r>
            <a:r>
              <a:rPr lang="en-IN" dirty="0">
                <a:latin typeface="Times New Roman" panose="02020603050405020304" pitchFamily="18" charset="0"/>
                <a:cs typeface="Times New Roman" panose="02020603050405020304" pitchFamily="18" charset="0"/>
              </a:rPr>
              <a:t> : MongoDB</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Editor</a:t>
            </a:r>
            <a:r>
              <a:rPr lang="en-IN" dirty="0">
                <a:latin typeface="Times New Roman" panose="02020603050405020304" pitchFamily="18" charset="0"/>
                <a:cs typeface="Times New Roman" panose="02020603050405020304" pitchFamily="18" charset="0"/>
              </a:rPr>
              <a:t> : Visual Studio Code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Web Browser</a:t>
            </a:r>
            <a:r>
              <a:rPr lang="en-IN" dirty="0">
                <a:latin typeface="Times New Roman" panose="02020603050405020304" pitchFamily="18" charset="0"/>
                <a:cs typeface="Times New Roman" panose="02020603050405020304" pitchFamily="18" charset="0"/>
              </a:rPr>
              <a:t> : Google Chrome / Microsoft Edge</a:t>
            </a:r>
          </a:p>
          <a:p>
            <a:pPr marL="0" indent="0">
              <a:buNone/>
            </a:pPr>
            <a:endParaRPr lang="en-IN" dirty="0"/>
          </a:p>
        </p:txBody>
      </p:sp>
      <p:sp>
        <p:nvSpPr>
          <p:cNvPr id="2" name="Date Placeholder 1">
            <a:extLst>
              <a:ext uri="{FF2B5EF4-FFF2-40B4-BE49-F238E27FC236}">
                <a16:creationId xmlns:a16="http://schemas.microsoft.com/office/drawing/2014/main" id="{4AEB52A5-031E-FF8A-AF83-1852AD2896C7}"/>
              </a:ext>
            </a:extLst>
          </p:cNvPr>
          <p:cNvSpPr>
            <a:spLocks noGrp="1"/>
          </p:cNvSpPr>
          <p:nvPr>
            <p:ph type="dt" sz="half" idx="10"/>
          </p:nvPr>
        </p:nvSpPr>
        <p:spPr>
          <a:xfrm>
            <a:off x="976132" y="6344779"/>
            <a:ext cx="2844800" cy="365125"/>
          </a:xfrm>
        </p:spPr>
        <p:txBody>
          <a:bodyPr/>
          <a:lstStyle/>
          <a:p>
            <a:pPr>
              <a:defRPr/>
            </a:pPr>
            <a:fld id="{28EA4A47-561E-465A-A6B1-ADF332ABEB53}" type="datetime5">
              <a:rPr lang="en-US" smtClean="0"/>
              <a:pPr>
                <a:defRPr/>
              </a:pPr>
              <a:t>3-Jan-26</a:t>
            </a:fld>
            <a:endParaRPr lang="en-US"/>
          </a:p>
        </p:txBody>
      </p:sp>
    </p:spTree>
    <p:extLst>
      <p:ext uri="{BB962C8B-B14F-4D97-AF65-F5344CB8AC3E}">
        <p14:creationId xmlns:p14="http://schemas.microsoft.com/office/powerpoint/2010/main" val="366120097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E7D0DD-E5CF-DFF4-A774-CB4406C146B6}"/>
              </a:ext>
            </a:extLst>
          </p:cNvPr>
          <p:cNvSpPr>
            <a:spLocks noGrp="1"/>
          </p:cNvSpPr>
          <p:nvPr>
            <p:ph type="dt" sz="half" idx="10"/>
          </p:nvPr>
        </p:nvSpPr>
        <p:spPr/>
        <p:txBody>
          <a:bodyPr/>
          <a:lstStyle/>
          <a:p>
            <a:pPr>
              <a:defRPr/>
            </a:pPr>
            <a:fld id="{28EA4A47-561E-465A-A6B1-ADF332ABEB53}" type="datetime5">
              <a:rPr lang="en-US" smtClean="0"/>
              <a:pPr>
                <a:defRPr/>
              </a:pPr>
              <a:t>3-Jan-26</a:t>
            </a:fld>
            <a:endParaRPr lang="en-US"/>
          </a:p>
        </p:txBody>
      </p:sp>
      <p:sp>
        <p:nvSpPr>
          <p:cNvPr id="6" name="TextBox 5">
            <a:extLst>
              <a:ext uri="{FF2B5EF4-FFF2-40B4-BE49-F238E27FC236}">
                <a16:creationId xmlns:a16="http://schemas.microsoft.com/office/drawing/2014/main" id="{A29BDF1A-E5F9-4057-1791-DDCE93D0C7B5}"/>
              </a:ext>
            </a:extLst>
          </p:cNvPr>
          <p:cNvSpPr txBox="1"/>
          <p:nvPr/>
        </p:nvSpPr>
        <p:spPr>
          <a:xfrm>
            <a:off x="4208205" y="344130"/>
            <a:ext cx="4935795" cy="646331"/>
          </a:xfrm>
          <a:prstGeom prst="rect">
            <a:avLst/>
          </a:prstGeom>
          <a:noFill/>
        </p:spPr>
        <p:txBody>
          <a:bodyPr wrap="square">
            <a:sp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SYSTEM DESIGNING</a:t>
            </a:r>
          </a:p>
        </p:txBody>
      </p:sp>
      <p:graphicFrame>
        <p:nvGraphicFramePr>
          <p:cNvPr id="4" name="Table 3">
            <a:extLst>
              <a:ext uri="{FF2B5EF4-FFF2-40B4-BE49-F238E27FC236}">
                <a16:creationId xmlns:a16="http://schemas.microsoft.com/office/drawing/2014/main" id="{22874EAB-8051-0112-6F95-65A5680644C1}"/>
              </a:ext>
            </a:extLst>
          </p:cNvPr>
          <p:cNvGraphicFramePr>
            <a:graphicFrameLocks noGrp="1"/>
          </p:cNvGraphicFramePr>
          <p:nvPr>
            <p:extLst>
              <p:ext uri="{D42A27DB-BD31-4B8C-83A1-F6EECF244321}">
                <p14:modId xmlns:p14="http://schemas.microsoft.com/office/powerpoint/2010/main" val="1306436635"/>
              </p:ext>
            </p:extLst>
          </p:nvPr>
        </p:nvGraphicFramePr>
        <p:xfrm>
          <a:off x="1099594" y="990462"/>
          <a:ext cx="10961225" cy="5642160"/>
        </p:xfrm>
        <a:graphic>
          <a:graphicData uri="http://schemas.openxmlformats.org/drawingml/2006/table">
            <a:tbl>
              <a:tblPr/>
              <a:tblGrid>
                <a:gridCol w="2316025">
                  <a:extLst>
                    <a:ext uri="{9D8B030D-6E8A-4147-A177-3AD203B41FA5}">
                      <a16:colId xmlns:a16="http://schemas.microsoft.com/office/drawing/2014/main" val="2879851665"/>
                    </a:ext>
                  </a:extLst>
                </a:gridCol>
                <a:gridCol w="4322600">
                  <a:extLst>
                    <a:ext uri="{9D8B030D-6E8A-4147-A177-3AD203B41FA5}">
                      <a16:colId xmlns:a16="http://schemas.microsoft.com/office/drawing/2014/main" val="2565291925"/>
                    </a:ext>
                  </a:extLst>
                </a:gridCol>
                <a:gridCol w="4322600">
                  <a:extLst>
                    <a:ext uri="{9D8B030D-6E8A-4147-A177-3AD203B41FA5}">
                      <a16:colId xmlns:a16="http://schemas.microsoft.com/office/drawing/2014/main" val="4020534724"/>
                    </a:ext>
                  </a:extLst>
                </a:gridCol>
              </a:tblGrid>
              <a:tr h="340871">
                <a:tc>
                  <a:txBody>
                    <a:bodyPr/>
                    <a:lstStyle/>
                    <a:p>
                      <a:pPr>
                        <a:buNone/>
                      </a:pPr>
                      <a:r>
                        <a:rPr lang="en-IN" sz="1900" b="1" dirty="0">
                          <a:latin typeface="Times New Roman" panose="02020603050405020304" pitchFamily="18" charset="0"/>
                          <a:cs typeface="Times New Roman" panose="02020603050405020304" pitchFamily="18" charset="0"/>
                        </a:rPr>
                        <a:t>LAYER</a:t>
                      </a:r>
                      <a:endParaRPr lang="en-IN" sz="1900" dirty="0">
                        <a:latin typeface="Times New Roman" panose="02020603050405020304" pitchFamily="18" charset="0"/>
                        <a:cs typeface="Times New Roman" panose="02020603050405020304" pitchFamily="18" charset="0"/>
                      </a:endParaRP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900" b="1" dirty="0">
                          <a:latin typeface="Times New Roman" panose="02020603050405020304" pitchFamily="18" charset="0"/>
                          <a:cs typeface="Times New Roman" panose="02020603050405020304" pitchFamily="18" charset="0"/>
                        </a:rPr>
                        <a:t>TECHNOLOGY USED</a:t>
                      </a:r>
                      <a:endParaRPr lang="en-IN" sz="1900" dirty="0">
                        <a:latin typeface="Times New Roman" panose="02020603050405020304" pitchFamily="18" charset="0"/>
                        <a:cs typeface="Times New Roman" panose="02020603050405020304" pitchFamily="18" charset="0"/>
                      </a:endParaRP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900" b="1" dirty="0">
                          <a:latin typeface="Times New Roman" panose="02020603050405020304" pitchFamily="18" charset="0"/>
                          <a:cs typeface="Times New Roman" panose="02020603050405020304" pitchFamily="18" charset="0"/>
                        </a:rPr>
                        <a:t>DESIGN DESCRIPTION</a:t>
                      </a:r>
                      <a:endParaRPr lang="en-IN" sz="1900" dirty="0">
                        <a:latin typeface="Times New Roman" panose="02020603050405020304" pitchFamily="18" charset="0"/>
                        <a:cs typeface="Times New Roman" panose="02020603050405020304" pitchFamily="18" charset="0"/>
                      </a:endParaRP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8434222"/>
                  </a:ext>
                </a:extLst>
              </a:tr>
              <a:tr h="923844">
                <a:tc>
                  <a:txBody>
                    <a:bodyPr/>
                    <a:lstStyle/>
                    <a:p>
                      <a:pPr>
                        <a:buNone/>
                      </a:pPr>
                      <a:r>
                        <a:rPr lang="en-IN" sz="1900" dirty="0">
                          <a:latin typeface="Times New Roman" panose="02020603050405020304" pitchFamily="18" charset="0"/>
                          <a:cs typeface="Times New Roman" panose="02020603050405020304" pitchFamily="18" charset="0"/>
                        </a:rPr>
                        <a:t>Frontend</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900">
                          <a:latin typeface="Times New Roman" panose="02020603050405020304" pitchFamily="18" charset="0"/>
                          <a:cs typeface="Times New Roman" panose="02020603050405020304" pitchFamily="18" charset="0"/>
                        </a:rPr>
                        <a:t>React.js (Vite)</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dirty="0">
                          <a:latin typeface="Times New Roman" panose="02020603050405020304" pitchFamily="18" charset="0"/>
                          <a:cs typeface="Times New Roman" panose="02020603050405020304" pitchFamily="18" charset="0"/>
                        </a:rPr>
                        <a:t>Designs responsive and interactive user interface for product browsing, cart, checkout, and admin dashboard</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4755947"/>
                  </a:ext>
                </a:extLst>
              </a:tr>
              <a:tr h="632357">
                <a:tc>
                  <a:txBody>
                    <a:bodyPr/>
                    <a:lstStyle/>
                    <a:p>
                      <a:pPr>
                        <a:buNone/>
                      </a:pPr>
                      <a:r>
                        <a:rPr lang="en-IN" sz="1900">
                          <a:latin typeface="Times New Roman" panose="02020603050405020304" pitchFamily="18" charset="0"/>
                          <a:cs typeface="Times New Roman" panose="02020603050405020304" pitchFamily="18" charset="0"/>
                        </a:rPr>
                        <a:t>Backend</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900">
                          <a:latin typeface="Times New Roman" panose="02020603050405020304" pitchFamily="18" charset="0"/>
                          <a:cs typeface="Times New Roman" panose="02020603050405020304" pitchFamily="18" charset="0"/>
                        </a:rPr>
                        <a:t>Node.js</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a:latin typeface="Times New Roman" panose="02020603050405020304" pitchFamily="18" charset="0"/>
                          <a:cs typeface="Times New Roman" panose="02020603050405020304" pitchFamily="18" charset="0"/>
                        </a:rPr>
                        <a:t>Handles server-side operations, request processing, and business logic</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7426620"/>
                  </a:ext>
                </a:extLst>
              </a:tr>
              <a:tr h="923844">
                <a:tc>
                  <a:txBody>
                    <a:bodyPr/>
                    <a:lstStyle/>
                    <a:p>
                      <a:pPr>
                        <a:buNone/>
                      </a:pPr>
                      <a:r>
                        <a:rPr lang="en-IN" sz="1900">
                          <a:latin typeface="Times New Roman" panose="02020603050405020304" pitchFamily="18" charset="0"/>
                          <a:cs typeface="Times New Roman" panose="02020603050405020304" pitchFamily="18" charset="0"/>
                        </a:rPr>
                        <a:t>Backend Framework</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900" dirty="0">
                          <a:latin typeface="Times New Roman" panose="02020603050405020304" pitchFamily="18" charset="0"/>
                          <a:cs typeface="Times New Roman" panose="02020603050405020304" pitchFamily="18" charset="0"/>
                        </a:rPr>
                        <a:t>Express.js</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dirty="0">
                          <a:latin typeface="Times New Roman" panose="02020603050405020304" pitchFamily="18" charset="0"/>
                          <a:cs typeface="Times New Roman" panose="02020603050405020304" pitchFamily="18" charset="0"/>
                        </a:rPr>
                        <a:t>Provides RESTful APIs, routing, middleware support, and request validation</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0237315"/>
                  </a:ext>
                </a:extLst>
              </a:tr>
              <a:tr h="923844">
                <a:tc>
                  <a:txBody>
                    <a:bodyPr/>
                    <a:lstStyle/>
                    <a:p>
                      <a:pPr>
                        <a:buNone/>
                      </a:pPr>
                      <a:r>
                        <a:rPr lang="en-IN" sz="1900">
                          <a:latin typeface="Times New Roman" panose="02020603050405020304" pitchFamily="18" charset="0"/>
                          <a:cs typeface="Times New Roman" panose="02020603050405020304" pitchFamily="18" charset="0"/>
                        </a:rPr>
                        <a:t>Database</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900">
                          <a:latin typeface="Times New Roman" panose="02020603050405020304" pitchFamily="18" charset="0"/>
                          <a:cs typeface="Times New Roman" panose="02020603050405020304" pitchFamily="18" charset="0"/>
                        </a:rPr>
                        <a:t>MongoDB</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a:latin typeface="Times New Roman" panose="02020603050405020304" pitchFamily="18" charset="0"/>
                          <a:cs typeface="Times New Roman" panose="02020603050405020304" pitchFamily="18" charset="0"/>
                        </a:rPr>
                        <a:t>Stores user details, product information, orders, stock data, and transaction records</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6508432"/>
                  </a:ext>
                </a:extLst>
              </a:tr>
              <a:tr h="632357">
                <a:tc>
                  <a:txBody>
                    <a:bodyPr/>
                    <a:lstStyle/>
                    <a:p>
                      <a:pPr>
                        <a:buNone/>
                      </a:pPr>
                      <a:r>
                        <a:rPr lang="en-IN" sz="1900" dirty="0">
                          <a:latin typeface="Times New Roman" panose="02020603050405020304" pitchFamily="18" charset="0"/>
                          <a:cs typeface="Times New Roman" panose="02020603050405020304" pitchFamily="18" charset="0"/>
                        </a:rPr>
                        <a:t>Authentication</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900">
                          <a:latin typeface="Times New Roman" panose="02020603050405020304" pitchFamily="18" charset="0"/>
                          <a:cs typeface="Times New Roman" panose="02020603050405020304" pitchFamily="18" charset="0"/>
                        </a:rPr>
                        <a:t>JWT (JSON Web Token)</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dirty="0">
                          <a:latin typeface="Times New Roman" panose="02020603050405020304" pitchFamily="18" charset="0"/>
                          <a:cs typeface="Times New Roman" panose="02020603050405020304" pitchFamily="18" charset="0"/>
                        </a:rPr>
                        <a:t>Ensures secure login, session handling, and role-based access control</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1879176"/>
                  </a:ext>
                </a:extLst>
              </a:tr>
              <a:tr h="632357">
                <a:tc>
                  <a:txBody>
                    <a:bodyPr/>
                    <a:lstStyle/>
                    <a:p>
                      <a:pPr>
                        <a:buNone/>
                      </a:pPr>
                      <a:r>
                        <a:rPr lang="en-IN" sz="1900" dirty="0">
                          <a:latin typeface="Times New Roman" panose="02020603050405020304" pitchFamily="18" charset="0"/>
                          <a:cs typeface="Times New Roman" panose="02020603050405020304" pitchFamily="18" charset="0"/>
                        </a:rPr>
                        <a:t>API Communication</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900">
                          <a:latin typeface="Times New Roman" panose="02020603050405020304" pitchFamily="18" charset="0"/>
                          <a:cs typeface="Times New Roman" panose="02020603050405020304" pitchFamily="18" charset="0"/>
                        </a:rPr>
                        <a:t>Axios</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dirty="0">
                          <a:latin typeface="Times New Roman" panose="02020603050405020304" pitchFamily="18" charset="0"/>
                          <a:cs typeface="Times New Roman" panose="02020603050405020304" pitchFamily="18" charset="0"/>
                        </a:rPr>
                        <a:t>Handles secure data exchange between frontend and backend</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1978709"/>
                  </a:ext>
                </a:extLst>
              </a:tr>
              <a:tr h="632357">
                <a:tc>
                  <a:txBody>
                    <a:bodyPr/>
                    <a:lstStyle/>
                    <a:p>
                      <a:pPr>
                        <a:buNone/>
                      </a:pPr>
                      <a:r>
                        <a:rPr lang="en-IN" sz="1900">
                          <a:latin typeface="Times New Roman" panose="02020603050405020304" pitchFamily="18" charset="0"/>
                          <a:cs typeface="Times New Roman" panose="02020603050405020304" pitchFamily="18" charset="0"/>
                        </a:rPr>
                        <a:t>Authorization</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900">
                          <a:latin typeface="Times New Roman" panose="02020603050405020304" pitchFamily="18" charset="0"/>
                          <a:cs typeface="Times New Roman" panose="02020603050405020304" pitchFamily="18" charset="0"/>
                        </a:rPr>
                        <a:t>Role-based Access</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dirty="0">
                          <a:latin typeface="Times New Roman" panose="02020603050405020304" pitchFamily="18" charset="0"/>
                          <a:cs typeface="Times New Roman" panose="02020603050405020304" pitchFamily="18" charset="0"/>
                        </a:rPr>
                        <a:t>Controls access for admin and customer functionalities</a:t>
                      </a:r>
                    </a:p>
                  </a:txBody>
                  <a:tcPr marL="51640" marR="51640" marT="25820" marB="25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7232237"/>
                  </a:ext>
                </a:extLst>
              </a:tr>
            </a:tbl>
          </a:graphicData>
        </a:graphic>
      </p:graphicFrame>
    </p:spTree>
    <p:extLst>
      <p:ext uri="{BB962C8B-B14F-4D97-AF65-F5344CB8AC3E}">
        <p14:creationId xmlns:p14="http://schemas.microsoft.com/office/powerpoint/2010/main" val="2770100194"/>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4E99E-B92E-47FB-A79B-115485CA765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418CAAD-F7D3-54CA-9DA0-DDFC255FD949}"/>
              </a:ext>
            </a:extLst>
          </p:cNvPr>
          <p:cNvSpPr>
            <a:spLocks noGrp="1"/>
          </p:cNvSpPr>
          <p:nvPr>
            <p:ph type="dt" sz="half" idx="10"/>
          </p:nvPr>
        </p:nvSpPr>
        <p:spPr/>
        <p:txBody>
          <a:bodyPr/>
          <a:lstStyle/>
          <a:p>
            <a:pPr>
              <a:defRPr/>
            </a:pPr>
            <a:fld id="{28EA4A47-561E-465A-A6B1-ADF332ABEB53}" type="datetime5">
              <a:rPr lang="en-US" smtClean="0"/>
              <a:pPr>
                <a:defRPr/>
              </a:pPr>
              <a:t>3-Jan-26</a:t>
            </a:fld>
            <a:endParaRPr lang="en-US"/>
          </a:p>
        </p:txBody>
      </p:sp>
      <p:sp>
        <p:nvSpPr>
          <p:cNvPr id="3" name="TextBox 2">
            <a:extLst>
              <a:ext uri="{FF2B5EF4-FFF2-40B4-BE49-F238E27FC236}">
                <a16:creationId xmlns:a16="http://schemas.microsoft.com/office/drawing/2014/main" id="{073B81AC-DF31-FFB0-04D1-9E3C99C754CB}"/>
              </a:ext>
            </a:extLst>
          </p:cNvPr>
          <p:cNvSpPr txBox="1"/>
          <p:nvPr/>
        </p:nvSpPr>
        <p:spPr>
          <a:xfrm>
            <a:off x="4527757" y="248766"/>
            <a:ext cx="9704439" cy="830997"/>
          </a:xfrm>
          <a:prstGeom prst="rect">
            <a:avLst/>
          </a:prstGeom>
          <a:noFill/>
        </p:spPr>
        <p:txBody>
          <a:bodyPr wrap="squar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DFD Level 0</a:t>
            </a:r>
          </a:p>
        </p:txBody>
      </p:sp>
      <p:pic>
        <p:nvPicPr>
          <p:cNvPr id="8" name="Picture 7">
            <a:extLst>
              <a:ext uri="{FF2B5EF4-FFF2-40B4-BE49-F238E27FC236}">
                <a16:creationId xmlns:a16="http://schemas.microsoft.com/office/drawing/2014/main" id="{0187ECB6-8EB7-984C-6133-F55A4E1D8D0B}"/>
              </a:ext>
            </a:extLst>
          </p:cNvPr>
          <p:cNvPicPr>
            <a:picLocks noChangeAspect="1"/>
          </p:cNvPicPr>
          <p:nvPr/>
        </p:nvPicPr>
        <p:blipFill>
          <a:blip r:embed="rId2">
            <a:extLst>
              <a:ext uri="{28A0092B-C50C-407E-A947-70E740481C1C}">
                <a14:useLocalDpi xmlns:a14="http://schemas.microsoft.com/office/drawing/2010/main" val="0"/>
              </a:ext>
            </a:extLst>
          </a:blip>
          <a:srcRect r="2167"/>
          <a:stretch>
            <a:fillRect/>
          </a:stretch>
        </p:blipFill>
        <p:spPr>
          <a:xfrm>
            <a:off x="2286000" y="1279528"/>
            <a:ext cx="8362709" cy="5076825"/>
          </a:xfrm>
          <a:prstGeom prst="rect">
            <a:avLst/>
          </a:prstGeom>
        </p:spPr>
      </p:pic>
    </p:spTree>
    <p:extLst>
      <p:ext uri="{BB962C8B-B14F-4D97-AF65-F5344CB8AC3E}">
        <p14:creationId xmlns:p14="http://schemas.microsoft.com/office/powerpoint/2010/main" val="771141177"/>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8C4EF-7508-8B52-28A0-EA8F27C58EF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F681525-4AE1-03C4-1394-0794957DD54A}"/>
              </a:ext>
            </a:extLst>
          </p:cNvPr>
          <p:cNvSpPr>
            <a:spLocks noGrp="1"/>
          </p:cNvSpPr>
          <p:nvPr>
            <p:ph type="dt" sz="half" idx="10"/>
          </p:nvPr>
        </p:nvSpPr>
        <p:spPr/>
        <p:txBody>
          <a:bodyPr/>
          <a:lstStyle/>
          <a:p>
            <a:pPr>
              <a:defRPr/>
            </a:pPr>
            <a:fld id="{28EA4A47-561E-465A-A6B1-ADF332ABEB53}" type="datetime5">
              <a:rPr lang="en-US" smtClean="0"/>
              <a:pPr>
                <a:defRPr/>
              </a:pPr>
              <a:t>3-Jan-26</a:t>
            </a:fld>
            <a:endParaRPr lang="en-US"/>
          </a:p>
        </p:txBody>
      </p:sp>
      <p:sp>
        <p:nvSpPr>
          <p:cNvPr id="3" name="TextBox 2">
            <a:extLst>
              <a:ext uri="{FF2B5EF4-FFF2-40B4-BE49-F238E27FC236}">
                <a16:creationId xmlns:a16="http://schemas.microsoft.com/office/drawing/2014/main" id="{9932A619-5B08-FF25-7F18-D5C02EF6E796}"/>
              </a:ext>
            </a:extLst>
          </p:cNvPr>
          <p:cNvSpPr txBox="1"/>
          <p:nvPr/>
        </p:nvSpPr>
        <p:spPr>
          <a:xfrm>
            <a:off x="-1137919" y="215638"/>
            <a:ext cx="15370116" cy="830997"/>
          </a:xfrm>
          <a:prstGeom prst="rect">
            <a:avLst/>
          </a:prstGeom>
          <a:noFill/>
        </p:spPr>
        <p:txBody>
          <a:bodyPr wrap="square" rtlCol="0">
            <a:spAutoFit/>
          </a:bodyPr>
          <a:lstStyle/>
          <a:p>
            <a:pPr algn="ctr"/>
            <a:r>
              <a:rPr lang="en-IN" sz="4800" dirty="0">
                <a:solidFill>
                  <a:srgbClr val="FF0000"/>
                </a:solidFill>
                <a:latin typeface="Times New Roman" panose="02020603050405020304" pitchFamily="18" charset="0"/>
                <a:cs typeface="Times New Roman" panose="02020603050405020304" pitchFamily="18" charset="0"/>
              </a:rPr>
              <a:t>DFD Level 1</a:t>
            </a:r>
          </a:p>
        </p:txBody>
      </p:sp>
      <p:pic>
        <p:nvPicPr>
          <p:cNvPr id="5" name="Picture 4">
            <a:extLst>
              <a:ext uri="{FF2B5EF4-FFF2-40B4-BE49-F238E27FC236}">
                <a16:creationId xmlns:a16="http://schemas.microsoft.com/office/drawing/2014/main" id="{32975EA7-9974-EE86-E5F7-E0A319B06452}"/>
              </a:ext>
            </a:extLst>
          </p:cNvPr>
          <p:cNvPicPr>
            <a:picLocks noChangeAspect="1"/>
          </p:cNvPicPr>
          <p:nvPr/>
        </p:nvPicPr>
        <p:blipFill>
          <a:blip r:embed="rId2">
            <a:extLst>
              <a:ext uri="{28A0092B-C50C-407E-A947-70E740481C1C}">
                <a14:useLocalDpi xmlns:a14="http://schemas.microsoft.com/office/drawing/2010/main" val="0"/>
              </a:ext>
            </a:extLst>
          </a:blip>
          <a:srcRect r="1945"/>
          <a:stretch>
            <a:fillRect/>
          </a:stretch>
        </p:blipFill>
        <p:spPr>
          <a:xfrm>
            <a:off x="2363553" y="1025686"/>
            <a:ext cx="8218905" cy="5584508"/>
          </a:xfrm>
          <a:prstGeom prst="rect">
            <a:avLst/>
          </a:prstGeom>
        </p:spPr>
      </p:pic>
    </p:spTree>
    <p:extLst>
      <p:ext uri="{BB962C8B-B14F-4D97-AF65-F5344CB8AC3E}">
        <p14:creationId xmlns:p14="http://schemas.microsoft.com/office/powerpoint/2010/main" val="306019651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050927-E6DB-9A6A-1530-50A2D6357B50}"/>
              </a:ext>
            </a:extLst>
          </p:cNvPr>
          <p:cNvSpPr>
            <a:spLocks noGrp="1"/>
          </p:cNvSpPr>
          <p:nvPr>
            <p:ph type="dt" sz="half" idx="10"/>
          </p:nvPr>
        </p:nvSpPr>
        <p:spPr/>
        <p:txBody>
          <a:bodyPr/>
          <a:lstStyle/>
          <a:p>
            <a:pPr>
              <a:defRPr/>
            </a:pPr>
            <a:fld id="{28EA4A47-561E-465A-A6B1-ADF332ABEB53}" type="datetime5">
              <a:rPr lang="en-US" smtClean="0"/>
              <a:pPr>
                <a:defRPr/>
              </a:pPr>
              <a:t>3-Jan-26</a:t>
            </a:fld>
            <a:endParaRPr lang="en-US"/>
          </a:p>
        </p:txBody>
      </p:sp>
      <p:sp>
        <p:nvSpPr>
          <p:cNvPr id="9" name="TextBox 8">
            <a:extLst>
              <a:ext uri="{FF2B5EF4-FFF2-40B4-BE49-F238E27FC236}">
                <a16:creationId xmlns:a16="http://schemas.microsoft.com/office/drawing/2014/main" id="{D40A6D70-89A8-2FF7-EF35-A1F44C1DD4E6}"/>
              </a:ext>
            </a:extLst>
          </p:cNvPr>
          <p:cNvSpPr txBox="1"/>
          <p:nvPr/>
        </p:nvSpPr>
        <p:spPr>
          <a:xfrm>
            <a:off x="3454400" y="185332"/>
            <a:ext cx="6843252" cy="584775"/>
          </a:xfrm>
          <a:prstGeom prst="rect">
            <a:avLst/>
          </a:prstGeom>
          <a:noFill/>
        </p:spPr>
        <p:txBody>
          <a:bodyPr wrap="square">
            <a:sp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SYSTEM MODULES OVERVIEW</a:t>
            </a:r>
          </a:p>
        </p:txBody>
      </p:sp>
      <p:sp>
        <p:nvSpPr>
          <p:cNvPr id="11" name="TextBox 10">
            <a:extLst>
              <a:ext uri="{FF2B5EF4-FFF2-40B4-BE49-F238E27FC236}">
                <a16:creationId xmlns:a16="http://schemas.microsoft.com/office/drawing/2014/main" id="{40C7B0CB-0223-16AE-7B02-1F4C4A0E960B}"/>
              </a:ext>
            </a:extLst>
          </p:cNvPr>
          <p:cNvSpPr txBox="1"/>
          <p:nvPr/>
        </p:nvSpPr>
        <p:spPr>
          <a:xfrm>
            <a:off x="1564511" y="972968"/>
            <a:ext cx="9062977" cy="5011949"/>
          </a:xfrm>
          <a:prstGeom prst="rect">
            <a:avLst/>
          </a:prstGeom>
          <a:noFill/>
        </p:spPr>
        <p:txBody>
          <a:bodyPr wrap="square" rtlCol="0">
            <a:spAutoFit/>
          </a:bodyPr>
          <a:lstStyle/>
          <a:p>
            <a:pPr marL="342900" lvl="0" indent="-342900" eaLnBrk="0" fontAlgn="base" hangingPunct="0">
              <a:lnSpc>
                <a:spcPct val="150000"/>
              </a:lnSpc>
              <a:spcBef>
                <a:spcPct val="0"/>
              </a:spcBef>
              <a:spcAft>
                <a:spcPct val="0"/>
              </a:spcAft>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User Management Module</a:t>
            </a:r>
          </a:p>
          <a:p>
            <a:pPr marL="1257300" lvl="2"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Cart Management Module</a:t>
            </a:r>
          </a:p>
          <a:p>
            <a:pPr marL="1257300" lvl="2"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Order Management Module</a:t>
            </a:r>
          </a:p>
          <a:p>
            <a:pPr marL="1257300" lvl="2"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Payment Management Module</a:t>
            </a:r>
          </a:p>
          <a:p>
            <a:pPr marL="342900" lvl="0" indent="-342900" eaLnBrk="0" fontAlgn="base" hangingPunct="0">
              <a:lnSpc>
                <a:spcPct val="150000"/>
              </a:lnSpc>
              <a:spcBef>
                <a:spcPct val="0"/>
              </a:spcBef>
              <a:spcAft>
                <a:spcPct val="0"/>
              </a:spcAft>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Admin Management Module</a:t>
            </a:r>
          </a:p>
          <a:p>
            <a:pPr marL="1257300" lvl="2"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Product Management Module</a:t>
            </a:r>
          </a:p>
          <a:p>
            <a:pPr marL="1714500" lvl="3" indent="-342900" eaLnBrk="0" fontAlgn="base" hangingPunct="0">
              <a:lnSpc>
                <a:spcPct val="150000"/>
              </a:lnSpc>
              <a:spcBef>
                <a:spcPct val="0"/>
              </a:spcBef>
              <a:spcAft>
                <a:spcPct val="0"/>
              </a:spcAf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Category Management Module (Cement, Steel, Others)</a:t>
            </a:r>
          </a:p>
          <a:p>
            <a:pPr marL="1257300" lvl="2"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Inventory &amp; Stock Management Module</a:t>
            </a:r>
          </a:p>
          <a:p>
            <a:pPr marL="1257300" lvl="2"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Dashboard &amp; Analytics Module</a:t>
            </a:r>
          </a:p>
        </p:txBody>
      </p:sp>
    </p:spTree>
    <p:extLst>
      <p:ext uri="{BB962C8B-B14F-4D97-AF65-F5344CB8AC3E}">
        <p14:creationId xmlns:p14="http://schemas.microsoft.com/office/powerpoint/2010/main" val="1707364556"/>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90F14-1AC0-8F3E-9606-A90D6C5DDBAB}"/>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2ED9C21-A29B-D4CC-D211-D7DE990C6BB0}"/>
              </a:ext>
            </a:extLst>
          </p:cNvPr>
          <p:cNvSpPr>
            <a:spLocks noGrp="1"/>
          </p:cNvSpPr>
          <p:nvPr>
            <p:ph type="dt" sz="half" idx="10"/>
          </p:nvPr>
        </p:nvSpPr>
        <p:spPr/>
        <p:txBody>
          <a:bodyPr/>
          <a:lstStyle/>
          <a:p>
            <a:pPr>
              <a:defRPr/>
            </a:pPr>
            <a:fld id="{28EA4A47-561E-465A-A6B1-ADF332ABEB53}" type="datetime5">
              <a:rPr lang="en-US" smtClean="0"/>
              <a:pPr>
                <a:defRPr/>
              </a:pPr>
              <a:t>3-Jan-26</a:t>
            </a:fld>
            <a:endParaRPr lang="en-US"/>
          </a:p>
        </p:txBody>
      </p:sp>
      <p:sp>
        <p:nvSpPr>
          <p:cNvPr id="9" name="TextBox 8">
            <a:extLst>
              <a:ext uri="{FF2B5EF4-FFF2-40B4-BE49-F238E27FC236}">
                <a16:creationId xmlns:a16="http://schemas.microsoft.com/office/drawing/2014/main" id="{31FD2F7B-6A63-09AF-1AD3-120FC0F7E9F7}"/>
              </a:ext>
            </a:extLst>
          </p:cNvPr>
          <p:cNvSpPr txBox="1"/>
          <p:nvPr/>
        </p:nvSpPr>
        <p:spPr>
          <a:xfrm>
            <a:off x="3454400" y="185332"/>
            <a:ext cx="6843252" cy="584775"/>
          </a:xfrm>
          <a:prstGeom prst="rect">
            <a:avLst/>
          </a:prstGeom>
          <a:noFill/>
        </p:spPr>
        <p:txBody>
          <a:bodyPr wrap="square">
            <a:sp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SYSTEM MODULES OVERVIEW</a:t>
            </a:r>
          </a:p>
        </p:txBody>
      </p:sp>
      <p:sp>
        <p:nvSpPr>
          <p:cNvPr id="11" name="TextBox 10">
            <a:extLst>
              <a:ext uri="{FF2B5EF4-FFF2-40B4-BE49-F238E27FC236}">
                <a16:creationId xmlns:a16="http://schemas.microsoft.com/office/drawing/2014/main" id="{B42FB449-C176-4844-B5EA-B7D448FD777E}"/>
              </a:ext>
            </a:extLst>
          </p:cNvPr>
          <p:cNvSpPr txBox="1"/>
          <p:nvPr/>
        </p:nvSpPr>
        <p:spPr>
          <a:xfrm>
            <a:off x="1564511" y="972968"/>
            <a:ext cx="10430844" cy="5565947"/>
          </a:xfrm>
          <a:prstGeom prst="rect">
            <a:avLst/>
          </a:prstGeom>
          <a:noFill/>
        </p:spPr>
        <p:txBody>
          <a:bodyPr wrap="square"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1. User Management Module</a:t>
            </a:r>
          </a:p>
          <a:p>
            <a:pPr>
              <a:lnSpc>
                <a:spcPct val="150000"/>
              </a:lnSpc>
            </a:pPr>
            <a:r>
              <a:rPr lang="en-US" sz="2400" dirty="0">
                <a:latin typeface="Times New Roman" panose="02020603050405020304" pitchFamily="18" charset="0"/>
                <a:cs typeface="Times New Roman" panose="02020603050405020304" pitchFamily="18" charset="0"/>
              </a:rPr>
              <a:t>	This module handles user registration, login, and profile management. It allows customers to securely create accounts, update personal details, reset passwords, and manage their order history. Authentication ensures that only authorized users can access the system.</a:t>
            </a:r>
          </a:p>
          <a:p>
            <a:pPr>
              <a:lnSpc>
                <a:spcPct val="150000"/>
              </a:lnSpc>
            </a:pPr>
            <a:r>
              <a:rPr lang="en-US" sz="2400" b="1" dirty="0">
                <a:latin typeface="Times New Roman" panose="02020603050405020304" pitchFamily="18" charset="0"/>
                <a:cs typeface="Times New Roman" panose="02020603050405020304" pitchFamily="18" charset="0"/>
              </a:rPr>
              <a:t>2. Admin Management Module</a:t>
            </a:r>
          </a:p>
          <a:p>
            <a:pPr>
              <a:lnSpc>
                <a:spcPct val="150000"/>
              </a:lnSpc>
            </a:pPr>
            <a:r>
              <a:rPr lang="en-US" sz="2400" dirty="0">
                <a:latin typeface="Times New Roman" panose="02020603050405020304" pitchFamily="18" charset="0"/>
                <a:cs typeface="Times New Roman" panose="02020603050405020304" pitchFamily="18" charset="0"/>
              </a:rPr>
              <a:t>	The Admin Management Module provides full control over the system. Administrators can manage users, products, orders, payments, and inventory. It ensures secure access with role-based authentication and enables monitoring of overall system activities.</a:t>
            </a:r>
          </a:p>
        </p:txBody>
      </p:sp>
    </p:spTree>
    <p:extLst>
      <p:ext uri="{BB962C8B-B14F-4D97-AF65-F5344CB8AC3E}">
        <p14:creationId xmlns:p14="http://schemas.microsoft.com/office/powerpoint/2010/main" val="979707038"/>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74DE1-06CD-233E-DF99-CD36C769A71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8592675-A089-17D4-23A3-AEF9929FED6F}"/>
              </a:ext>
            </a:extLst>
          </p:cNvPr>
          <p:cNvSpPr>
            <a:spLocks noGrp="1"/>
          </p:cNvSpPr>
          <p:nvPr>
            <p:ph type="dt" sz="half" idx="10"/>
          </p:nvPr>
        </p:nvSpPr>
        <p:spPr/>
        <p:txBody>
          <a:bodyPr/>
          <a:lstStyle/>
          <a:p>
            <a:pPr>
              <a:defRPr/>
            </a:pPr>
            <a:fld id="{28EA4A47-561E-465A-A6B1-ADF332ABEB53}" type="datetime5">
              <a:rPr lang="en-US" smtClean="0"/>
              <a:pPr>
                <a:defRPr/>
              </a:pPr>
              <a:t>3-Jan-26</a:t>
            </a:fld>
            <a:endParaRPr lang="en-US"/>
          </a:p>
        </p:txBody>
      </p:sp>
      <p:sp>
        <p:nvSpPr>
          <p:cNvPr id="9" name="TextBox 8">
            <a:extLst>
              <a:ext uri="{FF2B5EF4-FFF2-40B4-BE49-F238E27FC236}">
                <a16:creationId xmlns:a16="http://schemas.microsoft.com/office/drawing/2014/main" id="{D0134D25-37A2-E8CF-14E3-C5B4935E94C6}"/>
              </a:ext>
            </a:extLst>
          </p:cNvPr>
          <p:cNvSpPr txBox="1"/>
          <p:nvPr/>
        </p:nvSpPr>
        <p:spPr>
          <a:xfrm>
            <a:off x="3454400" y="185332"/>
            <a:ext cx="6843252" cy="584775"/>
          </a:xfrm>
          <a:prstGeom prst="rect">
            <a:avLst/>
          </a:prstGeom>
          <a:noFill/>
        </p:spPr>
        <p:txBody>
          <a:bodyPr wrap="square">
            <a:sp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SYSTEM MODULES OVERVIEW</a:t>
            </a:r>
          </a:p>
        </p:txBody>
      </p:sp>
      <p:sp>
        <p:nvSpPr>
          <p:cNvPr id="11" name="TextBox 10">
            <a:extLst>
              <a:ext uri="{FF2B5EF4-FFF2-40B4-BE49-F238E27FC236}">
                <a16:creationId xmlns:a16="http://schemas.microsoft.com/office/drawing/2014/main" id="{89A5611D-FC1D-BEBA-B6D3-D17E16EB7C21}"/>
              </a:ext>
            </a:extLst>
          </p:cNvPr>
          <p:cNvSpPr txBox="1"/>
          <p:nvPr/>
        </p:nvSpPr>
        <p:spPr>
          <a:xfrm>
            <a:off x="1564511" y="972968"/>
            <a:ext cx="10017889" cy="6119945"/>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3. Product Management Module</a:t>
            </a:r>
          </a:p>
          <a:p>
            <a:pPr algn="just">
              <a:lnSpc>
                <a:spcPct val="150000"/>
              </a:lnSpc>
            </a:pPr>
            <a:r>
              <a:rPr lang="en-US" sz="2400" dirty="0">
                <a:latin typeface="Times New Roman" panose="02020603050405020304" pitchFamily="18" charset="0"/>
                <a:cs typeface="Times New Roman" panose="02020603050405020304" pitchFamily="18" charset="0"/>
              </a:rPr>
              <a:t>	This module allows the admin to add, update, view, and delete construction products. Product details such as name, price, description, images, and availability are maintained accurately to ensure a smooth shopping experience for users.</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4. Category Management Module (Cement, Steel, Others)</a:t>
            </a:r>
          </a:p>
          <a:p>
            <a:pPr algn="just">
              <a:lnSpc>
                <a:spcPct val="150000"/>
              </a:lnSpc>
            </a:pPr>
            <a:r>
              <a:rPr lang="en-US" sz="2400" dirty="0">
                <a:latin typeface="Times New Roman" panose="02020603050405020304" pitchFamily="18" charset="0"/>
                <a:cs typeface="Times New Roman" panose="02020603050405020304" pitchFamily="18" charset="0"/>
              </a:rPr>
              <a:t>	The Category Management Module organizes products into categories like Cement, Steel, and Others. It helps users easily browse products and allows admins to manage category-wise listings efficiently.</a:t>
            </a: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9353563"/>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C6E50-62DB-6B93-0314-F762623C842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E3AEFEC3-86B3-8AE1-440F-786A9D8920D2}"/>
              </a:ext>
            </a:extLst>
          </p:cNvPr>
          <p:cNvSpPr>
            <a:spLocks noGrp="1"/>
          </p:cNvSpPr>
          <p:nvPr>
            <p:ph type="dt" sz="half" idx="10"/>
          </p:nvPr>
        </p:nvSpPr>
        <p:spPr/>
        <p:txBody>
          <a:bodyPr/>
          <a:lstStyle/>
          <a:p>
            <a:pPr>
              <a:defRPr/>
            </a:pPr>
            <a:fld id="{28EA4A47-561E-465A-A6B1-ADF332ABEB53}" type="datetime5">
              <a:rPr lang="en-US" smtClean="0"/>
              <a:pPr>
                <a:defRPr/>
              </a:pPr>
              <a:t>3-Jan-26</a:t>
            </a:fld>
            <a:endParaRPr lang="en-US"/>
          </a:p>
        </p:txBody>
      </p:sp>
      <p:sp>
        <p:nvSpPr>
          <p:cNvPr id="9" name="TextBox 8">
            <a:extLst>
              <a:ext uri="{FF2B5EF4-FFF2-40B4-BE49-F238E27FC236}">
                <a16:creationId xmlns:a16="http://schemas.microsoft.com/office/drawing/2014/main" id="{C037C88F-788A-3DB2-81A3-37A16A6AC9A5}"/>
              </a:ext>
            </a:extLst>
          </p:cNvPr>
          <p:cNvSpPr txBox="1"/>
          <p:nvPr/>
        </p:nvSpPr>
        <p:spPr>
          <a:xfrm>
            <a:off x="3454400" y="185332"/>
            <a:ext cx="6843252" cy="584775"/>
          </a:xfrm>
          <a:prstGeom prst="rect">
            <a:avLst/>
          </a:prstGeom>
          <a:noFill/>
        </p:spPr>
        <p:txBody>
          <a:bodyPr wrap="square">
            <a:sp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SYSTEM MODULES OVERVIEW</a:t>
            </a:r>
          </a:p>
        </p:txBody>
      </p:sp>
      <p:sp>
        <p:nvSpPr>
          <p:cNvPr id="11" name="TextBox 10">
            <a:extLst>
              <a:ext uri="{FF2B5EF4-FFF2-40B4-BE49-F238E27FC236}">
                <a16:creationId xmlns:a16="http://schemas.microsoft.com/office/drawing/2014/main" id="{BC3841EC-59AB-CA34-6A99-230B02DE5272}"/>
              </a:ext>
            </a:extLst>
          </p:cNvPr>
          <p:cNvSpPr txBox="1"/>
          <p:nvPr/>
        </p:nvSpPr>
        <p:spPr>
          <a:xfrm>
            <a:off x="1564512" y="972968"/>
            <a:ext cx="10116212" cy="5565947"/>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5. Inventory &amp; Stock Management Module</a:t>
            </a:r>
          </a:p>
          <a:p>
            <a:pPr algn="just">
              <a:lnSpc>
                <a:spcPct val="150000"/>
              </a:lnSpc>
            </a:pPr>
            <a:r>
              <a:rPr lang="en-US" sz="2400" dirty="0">
                <a:latin typeface="Times New Roman" panose="02020603050405020304" pitchFamily="18" charset="0"/>
                <a:cs typeface="Times New Roman" panose="02020603050405020304" pitchFamily="18" charset="0"/>
              </a:rPr>
              <a:t>	This module tracks real-time stock levels of all products. It automatically updates inventory when orders are placed and alerts the admin about low-stock or out-of-stock items, ensuring better stock control.</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6. Cart Management Module</a:t>
            </a:r>
          </a:p>
          <a:p>
            <a:pPr algn="just">
              <a:lnSpc>
                <a:spcPct val="150000"/>
              </a:lnSpc>
            </a:pPr>
            <a:r>
              <a:rPr lang="en-US" sz="2400" dirty="0">
                <a:latin typeface="Times New Roman" panose="02020603050405020304" pitchFamily="18" charset="0"/>
                <a:cs typeface="Times New Roman" panose="02020603050405020304" pitchFamily="18" charset="0"/>
              </a:rPr>
              <a:t>	The Cart Management Module enables users to add, update, or remove products before checkout. It calculates the total cost dynamically based on quantity and price, providing a smooth pre-purchase experience.</a:t>
            </a: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447267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34A45-5889-4C3D-3D7D-20EA8D9FBEAA}"/>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D1E4A89-DA65-0B56-73FD-D07F3AEE6B8A}"/>
              </a:ext>
            </a:extLst>
          </p:cNvPr>
          <p:cNvSpPr>
            <a:spLocks noGrp="1"/>
          </p:cNvSpPr>
          <p:nvPr>
            <p:ph type="dt" sz="half" idx="10"/>
          </p:nvPr>
        </p:nvSpPr>
        <p:spPr/>
        <p:txBody>
          <a:bodyPr/>
          <a:lstStyle/>
          <a:p>
            <a:pPr>
              <a:defRPr/>
            </a:pPr>
            <a:fld id="{28EA4A47-561E-465A-A6B1-ADF332ABEB53}" type="datetime5">
              <a:rPr lang="en-US" smtClean="0"/>
              <a:pPr>
                <a:defRPr/>
              </a:pPr>
              <a:t>3-Jan-26</a:t>
            </a:fld>
            <a:endParaRPr lang="en-US"/>
          </a:p>
        </p:txBody>
      </p:sp>
      <p:sp>
        <p:nvSpPr>
          <p:cNvPr id="9" name="TextBox 8">
            <a:extLst>
              <a:ext uri="{FF2B5EF4-FFF2-40B4-BE49-F238E27FC236}">
                <a16:creationId xmlns:a16="http://schemas.microsoft.com/office/drawing/2014/main" id="{5D9C5002-E657-6A30-6135-7B7F944D7AE7}"/>
              </a:ext>
            </a:extLst>
          </p:cNvPr>
          <p:cNvSpPr txBox="1"/>
          <p:nvPr/>
        </p:nvSpPr>
        <p:spPr>
          <a:xfrm>
            <a:off x="3454400" y="185332"/>
            <a:ext cx="6843252" cy="584775"/>
          </a:xfrm>
          <a:prstGeom prst="rect">
            <a:avLst/>
          </a:prstGeom>
          <a:noFill/>
        </p:spPr>
        <p:txBody>
          <a:bodyPr wrap="square">
            <a:sp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SYSTEM MODULES OVERVIEW</a:t>
            </a:r>
          </a:p>
        </p:txBody>
      </p:sp>
      <p:sp>
        <p:nvSpPr>
          <p:cNvPr id="11" name="TextBox 10">
            <a:extLst>
              <a:ext uri="{FF2B5EF4-FFF2-40B4-BE49-F238E27FC236}">
                <a16:creationId xmlns:a16="http://schemas.microsoft.com/office/drawing/2014/main" id="{6D9CF936-D906-DA7F-264F-0C0B7AB80196}"/>
              </a:ext>
            </a:extLst>
          </p:cNvPr>
          <p:cNvSpPr txBox="1"/>
          <p:nvPr/>
        </p:nvSpPr>
        <p:spPr>
          <a:xfrm>
            <a:off x="1564511" y="972968"/>
            <a:ext cx="10017889" cy="5565947"/>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7. Order Management Module</a:t>
            </a:r>
          </a:p>
          <a:p>
            <a:pPr algn="just">
              <a:lnSpc>
                <a:spcPct val="150000"/>
              </a:lnSpc>
            </a:pPr>
            <a:r>
              <a:rPr lang="en-US" sz="2400" dirty="0">
                <a:latin typeface="Times New Roman" panose="02020603050405020304" pitchFamily="18" charset="0"/>
                <a:cs typeface="Times New Roman" panose="02020603050405020304" pitchFamily="18" charset="0"/>
              </a:rPr>
              <a:t>	This module manages the complete order lifecycle. Admins can view, confirm, process, and update order statuses, while users can track their orders from placement to delivery.</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8. Payment Management Module</a:t>
            </a:r>
          </a:p>
          <a:p>
            <a:pPr algn="just">
              <a:lnSpc>
                <a:spcPct val="150000"/>
              </a:lnSpc>
            </a:pPr>
            <a:r>
              <a:rPr lang="en-US" sz="2400" dirty="0">
                <a:latin typeface="Times New Roman" panose="02020603050405020304" pitchFamily="18" charset="0"/>
                <a:cs typeface="Times New Roman" panose="02020603050405020304" pitchFamily="18" charset="0"/>
              </a:rPr>
              <a:t>	The Payment Management Module handles secure online transactions. It supports payment processing, status tracking, and failure handling while ensuring data security and transaction reliability.</a:t>
            </a: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4449532"/>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770E0-9811-B74F-382C-CF6E2784FA2C}"/>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FD64BF3-419C-531D-611D-A9B988A882FC}"/>
              </a:ext>
            </a:extLst>
          </p:cNvPr>
          <p:cNvSpPr>
            <a:spLocks noGrp="1"/>
          </p:cNvSpPr>
          <p:nvPr>
            <p:ph type="dt" sz="half" idx="10"/>
          </p:nvPr>
        </p:nvSpPr>
        <p:spPr/>
        <p:txBody>
          <a:bodyPr/>
          <a:lstStyle/>
          <a:p>
            <a:pPr>
              <a:defRPr/>
            </a:pPr>
            <a:fld id="{28EA4A47-561E-465A-A6B1-ADF332ABEB53}" type="datetime5">
              <a:rPr lang="en-US" smtClean="0"/>
              <a:pPr>
                <a:defRPr/>
              </a:pPr>
              <a:t>3-Jan-26</a:t>
            </a:fld>
            <a:endParaRPr lang="en-US"/>
          </a:p>
        </p:txBody>
      </p:sp>
      <p:sp>
        <p:nvSpPr>
          <p:cNvPr id="9" name="TextBox 8">
            <a:extLst>
              <a:ext uri="{FF2B5EF4-FFF2-40B4-BE49-F238E27FC236}">
                <a16:creationId xmlns:a16="http://schemas.microsoft.com/office/drawing/2014/main" id="{ECC9D7C7-A691-2364-1685-5F8150082271}"/>
              </a:ext>
            </a:extLst>
          </p:cNvPr>
          <p:cNvSpPr txBox="1"/>
          <p:nvPr/>
        </p:nvSpPr>
        <p:spPr>
          <a:xfrm>
            <a:off x="3454400" y="185332"/>
            <a:ext cx="6843252" cy="584775"/>
          </a:xfrm>
          <a:prstGeom prst="rect">
            <a:avLst/>
          </a:prstGeom>
          <a:noFill/>
        </p:spPr>
        <p:txBody>
          <a:bodyPr wrap="square">
            <a:sp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SYSTEM MODULES OVERVIEW</a:t>
            </a:r>
          </a:p>
        </p:txBody>
      </p:sp>
      <p:sp>
        <p:nvSpPr>
          <p:cNvPr id="11" name="TextBox 10">
            <a:extLst>
              <a:ext uri="{FF2B5EF4-FFF2-40B4-BE49-F238E27FC236}">
                <a16:creationId xmlns:a16="http://schemas.microsoft.com/office/drawing/2014/main" id="{A27900FD-BC14-9707-FE59-381D75456170}"/>
              </a:ext>
            </a:extLst>
          </p:cNvPr>
          <p:cNvSpPr txBox="1"/>
          <p:nvPr/>
        </p:nvSpPr>
        <p:spPr>
          <a:xfrm>
            <a:off x="1564511" y="972968"/>
            <a:ext cx="10017889" cy="5565947"/>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9. Receipt / Invoice Generation Module</a:t>
            </a:r>
          </a:p>
          <a:p>
            <a:pPr algn="just">
              <a:lnSpc>
                <a:spcPct val="150000"/>
              </a:lnSpc>
            </a:pPr>
            <a:r>
              <a:rPr lang="en-US" sz="2400" dirty="0">
                <a:latin typeface="Times New Roman" panose="02020603050405020304" pitchFamily="18" charset="0"/>
                <a:cs typeface="Times New Roman" panose="02020603050405020304" pitchFamily="18" charset="0"/>
              </a:rPr>
              <a:t>	This module generates a professional receipt or invoice after successful payment. It includes customer details, product information, pricing, taxes (if applicable), and payment status, and can be downloaded or printed.</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10. Dashboard &amp; Analytics Module</a:t>
            </a:r>
          </a:p>
          <a:p>
            <a:pPr algn="just">
              <a:lnSpc>
                <a:spcPct val="150000"/>
              </a:lnSpc>
            </a:pPr>
            <a:r>
              <a:rPr lang="en-US" sz="2400" dirty="0">
                <a:latin typeface="Times New Roman" panose="02020603050405020304" pitchFamily="18" charset="0"/>
                <a:cs typeface="Times New Roman" panose="02020603050405020304" pitchFamily="18" charset="0"/>
              </a:rPr>
              <a:t>	The Dashboard &amp; Analytics Module provides a summarized view of system activities. It displays key metrics such as total sales, orders, payments, customers, and stock status using charts and reports to support decision-making.</a:t>
            </a: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4888652"/>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FAE28A-314F-7ADA-4057-95503B8157DE}"/>
              </a:ext>
            </a:extLst>
          </p:cNvPr>
          <p:cNvSpPr>
            <a:spLocks noGrp="1"/>
          </p:cNvSpPr>
          <p:nvPr>
            <p:ph type="dt" sz="half" idx="10"/>
          </p:nvPr>
        </p:nvSpPr>
        <p:spPr/>
        <p:txBody>
          <a:bodyPr/>
          <a:lstStyle/>
          <a:p>
            <a:pPr>
              <a:defRPr/>
            </a:pPr>
            <a:fld id="{28EA4A47-561E-465A-A6B1-ADF332ABEB53}" type="datetime5">
              <a:rPr lang="en-US" smtClean="0"/>
              <a:pPr>
                <a:defRPr/>
              </a:pPr>
              <a:t>3-Jan-26</a:t>
            </a:fld>
            <a:endParaRPr lang="en-US"/>
          </a:p>
        </p:txBody>
      </p:sp>
      <p:sp>
        <p:nvSpPr>
          <p:cNvPr id="5" name="TextBox 4">
            <a:extLst>
              <a:ext uri="{FF2B5EF4-FFF2-40B4-BE49-F238E27FC236}">
                <a16:creationId xmlns:a16="http://schemas.microsoft.com/office/drawing/2014/main" id="{4280B6A9-6CFB-F018-FD96-E454D7647678}"/>
              </a:ext>
            </a:extLst>
          </p:cNvPr>
          <p:cNvSpPr txBox="1"/>
          <p:nvPr/>
        </p:nvSpPr>
        <p:spPr>
          <a:xfrm>
            <a:off x="3454400" y="319085"/>
            <a:ext cx="7203061" cy="584775"/>
          </a:xfrm>
          <a:prstGeom prst="rect">
            <a:avLst/>
          </a:prstGeom>
          <a:noFill/>
        </p:spPr>
        <p:txBody>
          <a:bodyPr wrap="square" rtlCol="0">
            <a:sp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MODULE WORKFLOW DIAGRAM</a:t>
            </a: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923E94A-9803-B030-7B76-9DBCD0BFCB3D}"/>
              </a:ext>
            </a:extLst>
          </p:cNvPr>
          <p:cNvPicPr>
            <a:picLocks noChangeAspect="1"/>
          </p:cNvPicPr>
          <p:nvPr/>
        </p:nvPicPr>
        <p:blipFill>
          <a:blip r:embed="rId2">
            <a:extLst>
              <a:ext uri="{28A0092B-C50C-407E-A947-70E740481C1C}">
                <a14:useLocalDpi xmlns:a14="http://schemas.microsoft.com/office/drawing/2010/main" val="0"/>
              </a:ext>
            </a:extLst>
          </a:blip>
          <a:srcRect r="4076"/>
          <a:stretch>
            <a:fillRect/>
          </a:stretch>
        </p:blipFill>
        <p:spPr>
          <a:xfrm>
            <a:off x="2992056" y="1091694"/>
            <a:ext cx="7309413" cy="5076825"/>
          </a:xfrm>
          <a:prstGeom prst="rect">
            <a:avLst/>
          </a:prstGeom>
        </p:spPr>
      </p:pic>
    </p:spTree>
    <p:extLst>
      <p:ext uri="{BB962C8B-B14F-4D97-AF65-F5344CB8AC3E}">
        <p14:creationId xmlns:p14="http://schemas.microsoft.com/office/powerpoint/2010/main" val="540726239"/>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A3A1AF-77A4-F975-AB02-C857576E1407}"/>
              </a:ext>
            </a:extLst>
          </p:cNvPr>
          <p:cNvSpPr>
            <a:spLocks noGrp="1"/>
          </p:cNvSpPr>
          <p:nvPr>
            <p:ph type="dt" sz="half" idx="10"/>
          </p:nvPr>
        </p:nvSpPr>
        <p:spPr/>
        <p:txBody>
          <a:bodyPr/>
          <a:lstStyle/>
          <a:p>
            <a:pPr>
              <a:defRPr/>
            </a:pPr>
            <a:fld id="{28EA4A47-561E-465A-A6B1-ADF332ABEB53}" type="datetime5">
              <a:rPr lang="en-US" smtClean="0"/>
              <a:pPr>
                <a:defRPr/>
              </a:pPr>
              <a:t>3-Jan-26</a:t>
            </a:fld>
            <a:endParaRPr lang="en-US"/>
          </a:p>
        </p:txBody>
      </p:sp>
      <p:sp>
        <p:nvSpPr>
          <p:cNvPr id="4" name="TextBox 3">
            <a:extLst>
              <a:ext uri="{FF2B5EF4-FFF2-40B4-BE49-F238E27FC236}">
                <a16:creationId xmlns:a16="http://schemas.microsoft.com/office/drawing/2014/main" id="{6045C7A3-D3DB-EFFF-FC36-96CD280A1394}"/>
              </a:ext>
            </a:extLst>
          </p:cNvPr>
          <p:cNvSpPr txBox="1"/>
          <p:nvPr/>
        </p:nvSpPr>
        <p:spPr>
          <a:xfrm>
            <a:off x="512523" y="342509"/>
            <a:ext cx="10402403" cy="523220"/>
          </a:xfrm>
          <a:prstGeom prst="rect">
            <a:avLst/>
          </a:prstGeom>
          <a:noFill/>
        </p:spPr>
        <p:txBody>
          <a:bodyPr wrap="square">
            <a:spAutoFit/>
          </a:bodyPr>
          <a:lstStyle/>
          <a:p>
            <a:pPr algn="ctr"/>
            <a:r>
              <a:rPr lang="en-IN" sz="2800" b="1" dirty="0">
                <a:solidFill>
                  <a:srgbClr val="FF0000"/>
                </a:solidFill>
                <a:latin typeface="Times New Roman" panose="02020603050405020304" pitchFamily="18" charset="0"/>
                <a:cs typeface="Times New Roman" panose="02020603050405020304" pitchFamily="18" charset="0"/>
              </a:rPr>
              <a:t>                    DATABASE COLLECTION STRUCTURES</a:t>
            </a:r>
          </a:p>
        </p:txBody>
      </p:sp>
      <p:sp>
        <p:nvSpPr>
          <p:cNvPr id="6" name="TextBox 5">
            <a:extLst>
              <a:ext uri="{FF2B5EF4-FFF2-40B4-BE49-F238E27FC236}">
                <a16:creationId xmlns:a16="http://schemas.microsoft.com/office/drawing/2014/main" id="{A3AB7C9F-B3A8-EAA1-41D0-8D19E3C6344C}"/>
              </a:ext>
            </a:extLst>
          </p:cNvPr>
          <p:cNvSpPr txBox="1"/>
          <p:nvPr/>
        </p:nvSpPr>
        <p:spPr>
          <a:xfrm>
            <a:off x="884903" y="1069781"/>
            <a:ext cx="8259097"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ORDER COLLECTION</a:t>
            </a:r>
          </a:p>
        </p:txBody>
      </p:sp>
      <p:sp>
        <p:nvSpPr>
          <p:cNvPr id="5" name="TextBox 4">
            <a:extLst>
              <a:ext uri="{FF2B5EF4-FFF2-40B4-BE49-F238E27FC236}">
                <a16:creationId xmlns:a16="http://schemas.microsoft.com/office/drawing/2014/main" id="{5EB9331F-7FFA-1518-3CB7-207F18475D8E}"/>
              </a:ext>
            </a:extLst>
          </p:cNvPr>
          <p:cNvSpPr txBox="1"/>
          <p:nvPr/>
        </p:nvSpPr>
        <p:spPr>
          <a:xfrm>
            <a:off x="1433533" y="1437178"/>
            <a:ext cx="7161835" cy="5078313"/>
          </a:xfrm>
          <a:prstGeom prst="rect">
            <a:avLst/>
          </a:prstGeom>
          <a:noFill/>
        </p:spPr>
        <p:txBody>
          <a:bodyPr wrap="square">
            <a:spAutoFit/>
          </a:bodyPr>
          <a:lstStyle/>
          <a:p>
            <a:r>
              <a:rPr lang="en-IN" dirty="0"/>
              <a:t>{</a:t>
            </a:r>
          </a:p>
          <a:p>
            <a:r>
              <a:rPr lang="en-IN" dirty="0"/>
              <a:t>  "_id": </a:t>
            </a:r>
            <a:r>
              <a:rPr lang="en-IN" dirty="0" err="1"/>
              <a:t>ObjectId</a:t>
            </a:r>
            <a:r>
              <a:rPr lang="en-IN" dirty="0"/>
              <a:t>,</a:t>
            </a:r>
          </a:p>
          <a:p>
            <a:r>
              <a:rPr lang="en-IN" dirty="0"/>
              <a:t>  "user": </a:t>
            </a:r>
            <a:r>
              <a:rPr lang="en-IN" dirty="0" err="1"/>
              <a:t>ObjectId</a:t>
            </a:r>
            <a:r>
              <a:rPr lang="en-IN" dirty="0"/>
              <a:t>,</a:t>
            </a:r>
          </a:p>
          <a:p>
            <a:r>
              <a:rPr lang="en-IN" dirty="0"/>
              <a:t>  "items": [</a:t>
            </a:r>
          </a:p>
          <a:p>
            <a:r>
              <a:rPr lang="en-IN" dirty="0"/>
              <a:t>    {</a:t>
            </a:r>
          </a:p>
          <a:p>
            <a:r>
              <a:rPr lang="en-IN" dirty="0"/>
              <a:t>      "product": </a:t>
            </a:r>
            <a:r>
              <a:rPr lang="en-IN" dirty="0" err="1"/>
              <a:t>ObjectId</a:t>
            </a:r>
            <a:r>
              <a:rPr lang="en-IN" dirty="0"/>
              <a:t>,</a:t>
            </a:r>
          </a:p>
          <a:p>
            <a:r>
              <a:rPr lang="en-IN" dirty="0"/>
              <a:t>      "quantity": Number,</a:t>
            </a:r>
          </a:p>
          <a:p>
            <a:r>
              <a:rPr lang="en-IN" dirty="0"/>
              <a:t>      "price": Number</a:t>
            </a:r>
          </a:p>
          <a:p>
            <a:r>
              <a:rPr lang="en-IN" dirty="0"/>
              <a:t>    }</a:t>
            </a:r>
          </a:p>
          <a:p>
            <a:r>
              <a:rPr lang="en-IN" dirty="0"/>
              <a:t>  ],</a:t>
            </a:r>
          </a:p>
          <a:p>
            <a:r>
              <a:rPr lang="en-IN" dirty="0"/>
              <a:t>  "</a:t>
            </a:r>
            <a:r>
              <a:rPr lang="en-IN" dirty="0" err="1"/>
              <a:t>totalAmount</a:t>
            </a:r>
            <a:r>
              <a:rPr lang="en-IN" dirty="0"/>
              <a:t>": Number,</a:t>
            </a:r>
          </a:p>
          <a:p>
            <a:r>
              <a:rPr lang="en-IN" dirty="0"/>
              <a:t>  "</a:t>
            </a:r>
            <a:r>
              <a:rPr lang="en-IN" dirty="0" err="1"/>
              <a:t>shippingAddress</a:t>
            </a:r>
            <a:r>
              <a:rPr lang="en-IN" dirty="0"/>
              <a:t>": {</a:t>
            </a:r>
          </a:p>
          <a:p>
            <a:r>
              <a:rPr lang="en-IN" dirty="0"/>
              <a:t>    "name": String,</a:t>
            </a:r>
          </a:p>
          <a:p>
            <a:r>
              <a:rPr lang="en-IN" dirty="0"/>
              <a:t>    "phone": String,</a:t>
            </a:r>
          </a:p>
          <a:p>
            <a:r>
              <a:rPr lang="en-IN" dirty="0"/>
              <a:t>    "</a:t>
            </a:r>
            <a:r>
              <a:rPr lang="en-IN" dirty="0" err="1"/>
              <a:t>addressLine</a:t>
            </a:r>
            <a:r>
              <a:rPr lang="en-IN" dirty="0"/>
              <a:t>": String,</a:t>
            </a:r>
          </a:p>
          <a:p>
            <a:r>
              <a:rPr lang="en-IN" dirty="0"/>
              <a:t>    "city": String,</a:t>
            </a:r>
          </a:p>
          <a:p>
            <a:r>
              <a:rPr lang="en-IN" dirty="0"/>
              <a:t>    "state": String,</a:t>
            </a:r>
          </a:p>
          <a:p>
            <a:r>
              <a:rPr lang="en-IN" dirty="0"/>
              <a:t>    "</a:t>
            </a:r>
            <a:r>
              <a:rPr lang="en-IN" dirty="0" err="1"/>
              <a:t>pincode</a:t>
            </a:r>
            <a:r>
              <a:rPr lang="en-IN" dirty="0"/>
              <a:t>": String</a:t>
            </a:r>
          </a:p>
        </p:txBody>
      </p:sp>
      <p:sp>
        <p:nvSpPr>
          <p:cNvPr id="10" name="TextBox 9">
            <a:extLst>
              <a:ext uri="{FF2B5EF4-FFF2-40B4-BE49-F238E27FC236}">
                <a16:creationId xmlns:a16="http://schemas.microsoft.com/office/drawing/2014/main" id="{D9AEAC53-383D-C8F6-73B2-FEFD82DEDDDC}"/>
              </a:ext>
            </a:extLst>
          </p:cNvPr>
          <p:cNvSpPr txBox="1"/>
          <p:nvPr/>
        </p:nvSpPr>
        <p:spPr>
          <a:xfrm>
            <a:off x="6097930" y="1437177"/>
            <a:ext cx="6094070" cy="5078313"/>
          </a:xfrm>
          <a:prstGeom prst="rect">
            <a:avLst/>
          </a:prstGeom>
          <a:noFill/>
        </p:spPr>
        <p:txBody>
          <a:bodyPr wrap="square">
            <a:spAutoFit/>
          </a:bodyPr>
          <a:lstStyle/>
          <a:p>
            <a:endParaRPr lang="en-IN" dirty="0"/>
          </a:p>
          <a:p>
            <a:r>
              <a:rPr lang="en-IN" dirty="0"/>
              <a:t>  },</a:t>
            </a:r>
          </a:p>
          <a:p>
            <a:r>
              <a:rPr lang="en-IN" dirty="0"/>
              <a:t>  "</a:t>
            </a:r>
            <a:r>
              <a:rPr lang="en-IN" dirty="0" err="1"/>
              <a:t>paymentMethod</a:t>
            </a:r>
            <a:r>
              <a:rPr lang="en-IN" dirty="0"/>
              <a:t>": String,</a:t>
            </a:r>
          </a:p>
          <a:p>
            <a:r>
              <a:rPr lang="en-IN" dirty="0"/>
              <a:t>  "</a:t>
            </a:r>
            <a:r>
              <a:rPr lang="en-IN" dirty="0" err="1"/>
              <a:t>paymentIntentId</a:t>
            </a:r>
            <a:r>
              <a:rPr lang="en-IN" dirty="0"/>
              <a:t>": String,</a:t>
            </a:r>
          </a:p>
          <a:p>
            <a:r>
              <a:rPr lang="en-IN" dirty="0"/>
              <a:t>  "</a:t>
            </a:r>
            <a:r>
              <a:rPr lang="en-IN" dirty="0" err="1"/>
              <a:t>paymentStatus</a:t>
            </a:r>
            <a:r>
              <a:rPr lang="en-IN" dirty="0"/>
              <a:t>": String,</a:t>
            </a:r>
          </a:p>
          <a:p>
            <a:r>
              <a:rPr lang="en-IN" dirty="0"/>
              <a:t>  "</a:t>
            </a:r>
            <a:r>
              <a:rPr lang="en-IN" dirty="0" err="1"/>
              <a:t>orderStatus</a:t>
            </a:r>
            <a:r>
              <a:rPr lang="en-IN" dirty="0"/>
              <a:t>": String,</a:t>
            </a:r>
          </a:p>
          <a:p>
            <a:r>
              <a:rPr lang="en-IN" dirty="0"/>
              <a:t>  "notes": String,</a:t>
            </a:r>
          </a:p>
          <a:p>
            <a:r>
              <a:rPr lang="en-IN" dirty="0"/>
              <a:t>  "</a:t>
            </a:r>
            <a:r>
              <a:rPr lang="en-IN" dirty="0" err="1"/>
              <a:t>statusHistory</a:t>
            </a:r>
            <a:r>
              <a:rPr lang="en-IN" dirty="0"/>
              <a:t>": [</a:t>
            </a:r>
          </a:p>
          <a:p>
            <a:r>
              <a:rPr lang="en-IN" dirty="0"/>
              <a:t>    {</a:t>
            </a:r>
          </a:p>
          <a:p>
            <a:r>
              <a:rPr lang="en-IN" dirty="0"/>
              <a:t>      "status": String,</a:t>
            </a:r>
          </a:p>
          <a:p>
            <a:r>
              <a:rPr lang="en-IN" dirty="0"/>
              <a:t>      "</a:t>
            </a:r>
            <a:r>
              <a:rPr lang="en-IN" dirty="0" err="1"/>
              <a:t>updatedAt</a:t>
            </a:r>
            <a:r>
              <a:rPr lang="en-IN" dirty="0"/>
              <a:t>": Date</a:t>
            </a:r>
          </a:p>
          <a:p>
            <a:r>
              <a:rPr lang="en-IN" dirty="0"/>
              <a:t>    }</a:t>
            </a:r>
          </a:p>
          <a:p>
            <a:r>
              <a:rPr lang="en-IN" dirty="0"/>
              <a:t>  ],</a:t>
            </a:r>
          </a:p>
          <a:p>
            <a:r>
              <a:rPr lang="en-IN" dirty="0"/>
              <a:t>  "</a:t>
            </a:r>
            <a:r>
              <a:rPr lang="en-IN" dirty="0" err="1"/>
              <a:t>orderNumber</a:t>
            </a:r>
            <a:r>
              <a:rPr lang="en-IN" dirty="0"/>
              <a:t>": String,</a:t>
            </a:r>
          </a:p>
          <a:p>
            <a:r>
              <a:rPr lang="en-IN" dirty="0"/>
              <a:t>  "</a:t>
            </a:r>
            <a:r>
              <a:rPr lang="en-IN" dirty="0" err="1"/>
              <a:t>createdAt</a:t>
            </a:r>
            <a:r>
              <a:rPr lang="en-IN" dirty="0"/>
              <a:t>": Date,</a:t>
            </a:r>
          </a:p>
          <a:p>
            <a:r>
              <a:rPr lang="en-IN" dirty="0"/>
              <a:t>  "</a:t>
            </a:r>
            <a:r>
              <a:rPr lang="en-IN" dirty="0" err="1"/>
              <a:t>updatedAt</a:t>
            </a:r>
            <a:r>
              <a:rPr lang="en-IN" dirty="0"/>
              <a:t>": Date,</a:t>
            </a:r>
          </a:p>
          <a:p>
            <a:r>
              <a:rPr lang="en-IN" dirty="0"/>
              <a:t>  "__v": Number</a:t>
            </a:r>
          </a:p>
          <a:p>
            <a:r>
              <a:rPr lang="en-IN" dirty="0"/>
              <a:t>}</a:t>
            </a:r>
          </a:p>
        </p:txBody>
      </p:sp>
    </p:spTree>
    <p:extLst>
      <p:ext uri="{BB962C8B-B14F-4D97-AF65-F5344CB8AC3E}">
        <p14:creationId xmlns:p14="http://schemas.microsoft.com/office/powerpoint/2010/main" val="269769909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1C6EE3-977B-A932-838F-2BF2EA4E3310}"/>
              </a:ext>
            </a:extLst>
          </p:cNvPr>
          <p:cNvSpPr>
            <a:spLocks noGrp="1"/>
          </p:cNvSpPr>
          <p:nvPr>
            <p:ph type="dt" sz="half" idx="10"/>
          </p:nvPr>
        </p:nvSpPr>
        <p:spPr/>
        <p:txBody>
          <a:bodyPr/>
          <a:lstStyle/>
          <a:p>
            <a:pPr>
              <a:defRPr/>
            </a:pPr>
            <a:fld id="{28EA4A47-561E-465A-A6B1-ADF332ABEB53}" type="datetime5">
              <a:rPr lang="en-US" smtClean="0"/>
              <a:pPr>
                <a:defRPr/>
              </a:pPr>
              <a:t>3-Jan-26</a:t>
            </a:fld>
            <a:endParaRPr lang="en-US"/>
          </a:p>
        </p:txBody>
      </p:sp>
      <p:sp>
        <p:nvSpPr>
          <p:cNvPr id="4" name="TextBox 3">
            <a:extLst>
              <a:ext uri="{FF2B5EF4-FFF2-40B4-BE49-F238E27FC236}">
                <a16:creationId xmlns:a16="http://schemas.microsoft.com/office/drawing/2014/main" id="{2CD7201A-2D56-C316-ECD9-88AA6FCE0663}"/>
              </a:ext>
            </a:extLst>
          </p:cNvPr>
          <p:cNvSpPr txBox="1"/>
          <p:nvPr/>
        </p:nvSpPr>
        <p:spPr>
          <a:xfrm>
            <a:off x="839227" y="816375"/>
            <a:ext cx="8327923"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PAYMENT COLLECTION</a:t>
            </a:r>
          </a:p>
        </p:txBody>
      </p:sp>
      <p:sp>
        <p:nvSpPr>
          <p:cNvPr id="6" name="TextBox 5">
            <a:extLst>
              <a:ext uri="{FF2B5EF4-FFF2-40B4-BE49-F238E27FC236}">
                <a16:creationId xmlns:a16="http://schemas.microsoft.com/office/drawing/2014/main" id="{727C920F-5EAD-2B49-F6DE-914475237DAA}"/>
              </a:ext>
            </a:extLst>
          </p:cNvPr>
          <p:cNvSpPr txBox="1"/>
          <p:nvPr/>
        </p:nvSpPr>
        <p:spPr>
          <a:xfrm>
            <a:off x="1461304" y="1185707"/>
            <a:ext cx="6094070" cy="5016758"/>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"_id": </a:t>
            </a:r>
            <a:r>
              <a:rPr lang="en-IN" sz="2000" dirty="0" err="1">
                <a:latin typeface="Times New Roman" panose="02020603050405020304" pitchFamily="18" charset="0"/>
                <a:cs typeface="Times New Roman" panose="02020603050405020304" pitchFamily="18" charset="0"/>
              </a:rPr>
              <a:t>ObjectId</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"order": </a:t>
            </a:r>
            <a:r>
              <a:rPr lang="en-IN" sz="2000" dirty="0" err="1">
                <a:latin typeface="Times New Roman" panose="02020603050405020304" pitchFamily="18" charset="0"/>
                <a:cs typeface="Times New Roman" panose="02020603050405020304" pitchFamily="18" charset="0"/>
              </a:rPr>
              <a:t>ObjectId</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orderNumber</a:t>
            </a:r>
            <a:r>
              <a:rPr lang="en-IN" sz="2000" dirty="0">
                <a:latin typeface="Times New Roman" panose="02020603050405020304" pitchFamily="18" charset="0"/>
                <a:cs typeface="Times New Roman" panose="02020603050405020304" pitchFamily="18" charset="0"/>
              </a:rPr>
              <a:t>": String,</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"user": </a:t>
            </a:r>
            <a:r>
              <a:rPr lang="en-IN" sz="2000" dirty="0" err="1">
                <a:latin typeface="Times New Roman" panose="02020603050405020304" pitchFamily="18" charset="0"/>
                <a:cs typeface="Times New Roman" panose="02020603050405020304" pitchFamily="18" charset="0"/>
              </a:rPr>
              <a:t>ObjectId</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customerName</a:t>
            </a:r>
            <a:r>
              <a:rPr lang="en-IN" sz="2000" dirty="0">
                <a:latin typeface="Times New Roman" panose="02020603050405020304" pitchFamily="18" charset="0"/>
                <a:cs typeface="Times New Roman" panose="02020603050405020304" pitchFamily="18" charset="0"/>
              </a:rPr>
              <a:t>": String,</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customerEmail</a:t>
            </a:r>
            <a:r>
              <a:rPr lang="en-IN" sz="2000" dirty="0">
                <a:latin typeface="Times New Roman" panose="02020603050405020304" pitchFamily="18" charset="0"/>
                <a:cs typeface="Times New Roman" panose="02020603050405020304" pitchFamily="18" charset="0"/>
              </a:rPr>
              <a:t>": String,</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customerPhone</a:t>
            </a:r>
            <a:r>
              <a:rPr lang="en-IN" sz="2000" dirty="0">
                <a:latin typeface="Times New Roman" panose="02020603050405020304" pitchFamily="18" charset="0"/>
                <a:cs typeface="Times New Roman" panose="02020603050405020304" pitchFamily="18" charset="0"/>
              </a:rPr>
              <a:t>": String,</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paymentMethod</a:t>
            </a:r>
            <a:r>
              <a:rPr lang="en-IN" sz="2000" dirty="0">
                <a:latin typeface="Times New Roman" panose="02020603050405020304" pitchFamily="18" charset="0"/>
                <a:cs typeface="Times New Roman" panose="02020603050405020304" pitchFamily="18" charset="0"/>
              </a:rPr>
              <a:t>": String,</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paymentId</a:t>
            </a:r>
            <a:r>
              <a:rPr lang="en-IN" sz="2000" dirty="0">
                <a:latin typeface="Times New Roman" panose="02020603050405020304" pitchFamily="18" charset="0"/>
                <a:cs typeface="Times New Roman" panose="02020603050405020304" pitchFamily="18" charset="0"/>
              </a:rPr>
              <a:t>": String,</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transactionId</a:t>
            </a:r>
            <a:r>
              <a:rPr lang="en-IN" sz="2000" dirty="0">
                <a:latin typeface="Times New Roman" panose="02020603050405020304" pitchFamily="18" charset="0"/>
                <a:cs typeface="Times New Roman" panose="02020603050405020304" pitchFamily="18" charset="0"/>
              </a:rPr>
              <a:t>": String,</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stripePaymentIntentId</a:t>
            </a:r>
            <a:r>
              <a:rPr lang="en-IN" sz="2000" dirty="0">
                <a:latin typeface="Times New Roman" panose="02020603050405020304" pitchFamily="18" charset="0"/>
                <a:cs typeface="Times New Roman" panose="02020603050405020304" pitchFamily="18" charset="0"/>
              </a:rPr>
              <a:t>": String,</a:t>
            </a:r>
          </a:p>
        </p:txBody>
      </p:sp>
      <p:sp>
        <p:nvSpPr>
          <p:cNvPr id="9" name="TextBox 8">
            <a:extLst>
              <a:ext uri="{FF2B5EF4-FFF2-40B4-BE49-F238E27FC236}">
                <a16:creationId xmlns:a16="http://schemas.microsoft.com/office/drawing/2014/main" id="{72FE9CFF-0834-3D7A-003C-1677CEC53733}"/>
              </a:ext>
            </a:extLst>
          </p:cNvPr>
          <p:cNvSpPr txBox="1"/>
          <p:nvPr/>
        </p:nvSpPr>
        <p:spPr>
          <a:xfrm>
            <a:off x="7121325" y="655535"/>
            <a:ext cx="6094070" cy="6247864"/>
          </a:xfrm>
          <a:prstGeom prst="rect">
            <a:avLst/>
          </a:prstGeom>
          <a:noFill/>
        </p:spPr>
        <p:txBody>
          <a:bodyPr wrap="square">
            <a:spAutoFit/>
          </a:bodyPr>
          <a:lstStyle/>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"amount": Number,</a:t>
            </a:r>
          </a:p>
          <a:p>
            <a:r>
              <a:rPr lang="en-IN" sz="2000" dirty="0">
                <a:latin typeface="Times New Roman" panose="02020603050405020304" pitchFamily="18" charset="0"/>
                <a:cs typeface="Times New Roman" panose="02020603050405020304" pitchFamily="18" charset="0"/>
              </a:rPr>
              <a:t>  "currency": String,</a:t>
            </a:r>
          </a:p>
          <a:p>
            <a:r>
              <a:rPr lang="en-IN" sz="2000" dirty="0">
                <a:latin typeface="Times New Roman" panose="02020603050405020304" pitchFamily="18" charset="0"/>
                <a:cs typeface="Times New Roman" panose="02020603050405020304" pitchFamily="18" charset="0"/>
              </a:rPr>
              <a:t>  "status": String,</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gatewayResponse</a:t>
            </a:r>
            <a:r>
              <a:rPr lang="en-IN" sz="2000" dirty="0">
                <a:latin typeface="Times New Roman" panose="02020603050405020304" pitchFamily="18" charset="0"/>
                <a:cs typeface="Times New Roman" panose="02020603050405020304" pitchFamily="18" charset="0"/>
              </a:rPr>
              <a:t>": Object,</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failureReason</a:t>
            </a:r>
            <a:r>
              <a:rPr lang="en-IN" sz="2000" dirty="0">
                <a:latin typeface="Times New Roman" panose="02020603050405020304" pitchFamily="18" charset="0"/>
                <a:cs typeface="Times New Roman" panose="02020603050405020304" pitchFamily="18" charset="0"/>
              </a:rPr>
              <a:t>": String,</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refundId</a:t>
            </a:r>
            <a:r>
              <a:rPr lang="en-IN" sz="2000" dirty="0">
                <a:latin typeface="Times New Roman" panose="02020603050405020304" pitchFamily="18" charset="0"/>
                <a:cs typeface="Times New Roman" panose="02020603050405020304" pitchFamily="18" charset="0"/>
              </a:rPr>
              <a:t>": String,</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refundAmount</a:t>
            </a:r>
            <a:r>
              <a:rPr lang="en-IN" sz="2000" dirty="0">
                <a:latin typeface="Times New Roman" panose="02020603050405020304" pitchFamily="18" charset="0"/>
                <a:cs typeface="Times New Roman" panose="02020603050405020304" pitchFamily="18" charset="0"/>
              </a:rPr>
              <a:t>": Number,</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refundDate</a:t>
            </a:r>
            <a:r>
              <a:rPr lang="en-IN" sz="2000" dirty="0">
                <a:latin typeface="Times New Roman" panose="02020603050405020304" pitchFamily="18" charset="0"/>
                <a:cs typeface="Times New Roman" panose="02020603050405020304" pitchFamily="18" charset="0"/>
              </a:rPr>
              <a:t>": Date,</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refundReason</a:t>
            </a:r>
            <a:r>
              <a:rPr lang="en-IN" sz="2000" dirty="0">
                <a:latin typeface="Times New Roman" panose="02020603050405020304" pitchFamily="18" charset="0"/>
                <a:cs typeface="Times New Roman" panose="02020603050405020304" pitchFamily="18" charset="0"/>
              </a:rPr>
              <a:t>": String,</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paymentDate</a:t>
            </a:r>
            <a:r>
              <a:rPr lang="en-IN" sz="2000" dirty="0">
                <a:latin typeface="Times New Roman" panose="02020603050405020304" pitchFamily="18" charset="0"/>
                <a:cs typeface="Times New Roman" panose="02020603050405020304" pitchFamily="18" charset="0"/>
              </a:rPr>
              <a:t>": Date,</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createdAt</a:t>
            </a:r>
            <a:r>
              <a:rPr lang="en-IN" sz="2000" dirty="0">
                <a:latin typeface="Times New Roman" panose="02020603050405020304" pitchFamily="18" charset="0"/>
                <a:cs typeface="Times New Roman" panose="02020603050405020304" pitchFamily="18" charset="0"/>
              </a:rPr>
              <a:t>": Date,</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updatedAt</a:t>
            </a:r>
            <a:r>
              <a:rPr lang="en-IN" sz="2000" dirty="0">
                <a:latin typeface="Times New Roman" panose="02020603050405020304" pitchFamily="18" charset="0"/>
                <a:cs typeface="Times New Roman" panose="02020603050405020304" pitchFamily="18" charset="0"/>
              </a:rPr>
              <a:t>": Date,</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"__v": Number</a:t>
            </a:r>
          </a:p>
          <a:p>
            <a:r>
              <a:rPr lang="en-IN"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7002026"/>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8466C-7186-5DAC-EA19-416FB392AD4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9CFDDE8-117F-1830-98C3-BB3FAE03B3C2}"/>
              </a:ext>
            </a:extLst>
          </p:cNvPr>
          <p:cNvSpPr>
            <a:spLocks noGrp="1"/>
          </p:cNvSpPr>
          <p:nvPr>
            <p:ph type="dt" sz="half" idx="10"/>
          </p:nvPr>
        </p:nvSpPr>
        <p:spPr/>
        <p:txBody>
          <a:bodyPr/>
          <a:lstStyle/>
          <a:p>
            <a:pPr>
              <a:defRPr/>
            </a:pPr>
            <a:fld id="{28EA4A47-561E-465A-A6B1-ADF332ABEB53}" type="datetime5">
              <a:rPr lang="en-US" smtClean="0"/>
              <a:pPr>
                <a:defRPr/>
              </a:pPr>
              <a:t>3-Jan-26</a:t>
            </a:fld>
            <a:endParaRPr lang="en-US"/>
          </a:p>
        </p:txBody>
      </p:sp>
      <p:sp>
        <p:nvSpPr>
          <p:cNvPr id="4" name="TextBox 3">
            <a:extLst>
              <a:ext uri="{FF2B5EF4-FFF2-40B4-BE49-F238E27FC236}">
                <a16:creationId xmlns:a16="http://schemas.microsoft.com/office/drawing/2014/main" id="{3B11D97E-FC6F-C9C0-AA4D-A6F68E7C1F47}"/>
              </a:ext>
            </a:extLst>
          </p:cNvPr>
          <p:cNvSpPr txBox="1"/>
          <p:nvPr/>
        </p:nvSpPr>
        <p:spPr>
          <a:xfrm>
            <a:off x="943398" y="640841"/>
            <a:ext cx="8327923"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PRODUCT COLLECTION</a:t>
            </a:r>
          </a:p>
        </p:txBody>
      </p:sp>
      <p:sp>
        <p:nvSpPr>
          <p:cNvPr id="6" name="TextBox 5">
            <a:extLst>
              <a:ext uri="{FF2B5EF4-FFF2-40B4-BE49-F238E27FC236}">
                <a16:creationId xmlns:a16="http://schemas.microsoft.com/office/drawing/2014/main" id="{87A99976-4C13-B461-C38A-A22D8F2063D7}"/>
              </a:ext>
            </a:extLst>
          </p:cNvPr>
          <p:cNvSpPr txBox="1"/>
          <p:nvPr/>
        </p:nvSpPr>
        <p:spPr>
          <a:xfrm>
            <a:off x="1519177" y="1174893"/>
            <a:ext cx="6094070" cy="4678204"/>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"_id": </a:t>
            </a:r>
            <a:r>
              <a:rPr lang="en-IN" sz="2000" dirty="0" err="1">
                <a:latin typeface="Times New Roman" panose="02020603050405020304" pitchFamily="18" charset="0"/>
                <a:cs typeface="Times New Roman" panose="02020603050405020304" pitchFamily="18" charset="0"/>
              </a:rPr>
              <a:t>ObjectId</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productName</a:t>
            </a:r>
            <a:r>
              <a:rPr lang="en-IN" sz="2000" dirty="0">
                <a:latin typeface="Times New Roman" panose="02020603050405020304" pitchFamily="18" charset="0"/>
                <a:cs typeface="Times New Roman" panose="02020603050405020304" pitchFamily="18" charset="0"/>
              </a:rPr>
              <a:t>": String,</a:t>
            </a:r>
          </a:p>
          <a:p>
            <a:r>
              <a:rPr lang="en-IN" sz="2000" dirty="0">
                <a:latin typeface="Times New Roman" panose="02020603050405020304" pitchFamily="18" charset="0"/>
                <a:cs typeface="Times New Roman" panose="02020603050405020304" pitchFamily="18" charset="0"/>
              </a:rPr>
              <a:t>  "category": String,</a:t>
            </a:r>
          </a:p>
          <a:p>
            <a:r>
              <a:rPr lang="en-IN" sz="2000" dirty="0">
                <a:latin typeface="Times New Roman" panose="02020603050405020304" pitchFamily="18" charset="0"/>
                <a:cs typeface="Times New Roman" panose="02020603050405020304" pitchFamily="18" charset="0"/>
              </a:rPr>
              <a:t>  "subcategory": String,</a:t>
            </a:r>
          </a:p>
          <a:p>
            <a:r>
              <a:rPr lang="en-IN" sz="2000" dirty="0">
                <a:latin typeface="Times New Roman" panose="02020603050405020304" pitchFamily="18" charset="0"/>
                <a:cs typeface="Times New Roman" panose="02020603050405020304" pitchFamily="18" charset="0"/>
              </a:rPr>
              <a:t>  "brand": String,</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"description": String,</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"price": Number,</a:t>
            </a:r>
          </a:p>
          <a:p>
            <a:r>
              <a:rPr lang="en-IN" sz="2000" dirty="0">
                <a:latin typeface="Times New Roman" panose="02020603050405020304" pitchFamily="18" charset="0"/>
                <a:cs typeface="Times New Roman" panose="02020603050405020304" pitchFamily="18" charset="0"/>
              </a:rPr>
              <a:t>  "unit": String,</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stockQuantity</a:t>
            </a:r>
            <a:r>
              <a:rPr lang="en-IN" sz="2000" dirty="0">
                <a:latin typeface="Times New Roman" panose="02020603050405020304" pitchFamily="18" charset="0"/>
                <a:cs typeface="Times New Roman" panose="02020603050405020304" pitchFamily="18" charset="0"/>
              </a:rPr>
              <a:t>": Number,</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minOrderQuantity</a:t>
            </a:r>
            <a:r>
              <a:rPr lang="en-IN" sz="2000" dirty="0">
                <a:latin typeface="Times New Roman" panose="02020603050405020304" pitchFamily="18" charset="0"/>
                <a:cs typeface="Times New Roman" panose="02020603050405020304" pitchFamily="18" charset="0"/>
              </a:rPr>
              <a:t>": Number,</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lowStockThreshold</a:t>
            </a:r>
            <a:r>
              <a:rPr lang="en-IN" sz="2000" dirty="0">
                <a:latin typeface="Times New Roman" panose="02020603050405020304" pitchFamily="18" charset="0"/>
                <a:cs typeface="Times New Roman" panose="02020603050405020304" pitchFamily="18" charset="0"/>
              </a:rPr>
              <a:t>": Number,</a:t>
            </a:r>
          </a:p>
        </p:txBody>
      </p:sp>
      <p:sp>
        <p:nvSpPr>
          <p:cNvPr id="9" name="TextBox 8">
            <a:extLst>
              <a:ext uri="{FF2B5EF4-FFF2-40B4-BE49-F238E27FC236}">
                <a16:creationId xmlns:a16="http://schemas.microsoft.com/office/drawing/2014/main" id="{B56977F4-BA8A-218E-1E69-700F1F1BAA79}"/>
              </a:ext>
            </a:extLst>
          </p:cNvPr>
          <p:cNvSpPr txBox="1"/>
          <p:nvPr/>
        </p:nvSpPr>
        <p:spPr>
          <a:xfrm>
            <a:off x="6519441" y="1174893"/>
            <a:ext cx="6094070" cy="4401205"/>
          </a:xfrm>
          <a:prstGeom prst="rect">
            <a:avLst/>
          </a:prstGeom>
          <a:noFill/>
        </p:spPr>
        <p:txBody>
          <a:bodyPr wrap="square">
            <a:spAutoFit/>
          </a:bodyPr>
          <a:lstStyle/>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"status": String,</a:t>
            </a:r>
          </a:p>
          <a:p>
            <a:r>
              <a:rPr lang="en-IN" sz="2000" dirty="0">
                <a:latin typeface="Times New Roman" panose="02020603050405020304" pitchFamily="18" charset="0"/>
                <a:cs typeface="Times New Roman" panose="02020603050405020304" pitchFamily="18" charset="0"/>
              </a:rPr>
              <a:t>  "featured": Boolean,</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"image": String,</a:t>
            </a:r>
          </a:p>
          <a:p>
            <a:r>
              <a:rPr lang="en-IN" sz="2000" dirty="0">
                <a:latin typeface="Times New Roman" panose="02020603050405020304" pitchFamily="18" charset="0"/>
                <a:cs typeface="Times New Roman" panose="02020603050405020304" pitchFamily="18" charset="0"/>
              </a:rPr>
              <a:t>  "images": [String],</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"tags": [String],</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createdAt</a:t>
            </a:r>
            <a:r>
              <a:rPr lang="en-IN" sz="2000" dirty="0">
                <a:latin typeface="Times New Roman" panose="02020603050405020304" pitchFamily="18" charset="0"/>
                <a:cs typeface="Times New Roman" panose="02020603050405020304" pitchFamily="18" charset="0"/>
              </a:rPr>
              <a:t>": Date,</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updatedAt</a:t>
            </a:r>
            <a:r>
              <a:rPr lang="en-IN" sz="2000" dirty="0">
                <a:latin typeface="Times New Roman" panose="02020603050405020304" pitchFamily="18" charset="0"/>
                <a:cs typeface="Times New Roman" panose="02020603050405020304" pitchFamily="18" charset="0"/>
              </a:rPr>
              <a:t>": Date,</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"__v": Number</a:t>
            </a:r>
          </a:p>
          <a:p>
            <a:r>
              <a:rPr lang="en-IN"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62235034"/>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14A8F-5CB8-1088-C448-D1C2BE851EE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DEF636B-ED72-ACD9-07F2-B32541E9063F}"/>
              </a:ext>
            </a:extLst>
          </p:cNvPr>
          <p:cNvSpPr>
            <a:spLocks noGrp="1"/>
          </p:cNvSpPr>
          <p:nvPr>
            <p:ph type="dt" sz="half" idx="10"/>
          </p:nvPr>
        </p:nvSpPr>
        <p:spPr/>
        <p:txBody>
          <a:bodyPr/>
          <a:lstStyle/>
          <a:p>
            <a:pPr>
              <a:defRPr/>
            </a:pPr>
            <a:fld id="{28EA4A47-561E-465A-A6B1-ADF332ABEB53}" type="datetime5">
              <a:rPr lang="en-US" smtClean="0"/>
              <a:pPr>
                <a:defRPr/>
              </a:pPr>
              <a:t>3-Jan-26</a:t>
            </a:fld>
            <a:endParaRPr lang="en-US"/>
          </a:p>
        </p:txBody>
      </p:sp>
      <p:sp>
        <p:nvSpPr>
          <p:cNvPr id="4" name="TextBox 3">
            <a:extLst>
              <a:ext uri="{FF2B5EF4-FFF2-40B4-BE49-F238E27FC236}">
                <a16:creationId xmlns:a16="http://schemas.microsoft.com/office/drawing/2014/main" id="{5AA904D8-4C58-F8BE-E3C6-A5D046EDB575}"/>
              </a:ext>
            </a:extLst>
          </p:cNvPr>
          <p:cNvSpPr txBox="1"/>
          <p:nvPr/>
        </p:nvSpPr>
        <p:spPr>
          <a:xfrm>
            <a:off x="885525" y="723978"/>
            <a:ext cx="8327923"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USER COLECTION</a:t>
            </a:r>
          </a:p>
        </p:txBody>
      </p:sp>
      <p:sp>
        <p:nvSpPr>
          <p:cNvPr id="7" name="TextBox 6">
            <a:extLst>
              <a:ext uri="{FF2B5EF4-FFF2-40B4-BE49-F238E27FC236}">
                <a16:creationId xmlns:a16="http://schemas.microsoft.com/office/drawing/2014/main" id="{37EC0D6D-0864-CDB4-420C-A42106040740}"/>
              </a:ext>
            </a:extLst>
          </p:cNvPr>
          <p:cNvSpPr txBox="1"/>
          <p:nvPr/>
        </p:nvSpPr>
        <p:spPr>
          <a:xfrm>
            <a:off x="1634925" y="1265507"/>
            <a:ext cx="6094070" cy="4062651"/>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"_id": </a:t>
            </a:r>
            <a:r>
              <a:rPr lang="en-IN" sz="2000" dirty="0" err="1">
                <a:latin typeface="Times New Roman" panose="02020603050405020304" pitchFamily="18" charset="0"/>
                <a:cs typeface="Times New Roman" panose="02020603050405020304" pitchFamily="18" charset="0"/>
              </a:rPr>
              <a:t>ObjectId</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"name": String,</a:t>
            </a:r>
          </a:p>
          <a:p>
            <a:r>
              <a:rPr lang="en-IN" sz="2000" dirty="0">
                <a:latin typeface="Times New Roman" panose="02020603050405020304" pitchFamily="18" charset="0"/>
                <a:cs typeface="Times New Roman" panose="02020603050405020304" pitchFamily="18" charset="0"/>
              </a:rPr>
              <a:t>  "email": String,</a:t>
            </a:r>
          </a:p>
          <a:p>
            <a:r>
              <a:rPr lang="en-IN" sz="2000" dirty="0">
                <a:latin typeface="Times New Roman" panose="02020603050405020304" pitchFamily="18" charset="0"/>
                <a:cs typeface="Times New Roman" panose="02020603050405020304" pitchFamily="18" charset="0"/>
              </a:rPr>
              <a:t>  "phone": String,</a:t>
            </a:r>
          </a:p>
          <a:p>
            <a:r>
              <a:rPr lang="en-IN" sz="2000" dirty="0">
                <a:latin typeface="Times New Roman" panose="02020603050405020304" pitchFamily="18" charset="0"/>
                <a:cs typeface="Times New Roman" panose="02020603050405020304" pitchFamily="18" charset="0"/>
              </a:rPr>
              <a:t>  "password": String,</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"role": String,</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authProvider</a:t>
            </a:r>
            <a:r>
              <a:rPr lang="en-IN" sz="2000" dirty="0">
                <a:latin typeface="Times New Roman" panose="02020603050405020304" pitchFamily="18" charset="0"/>
                <a:cs typeface="Times New Roman" panose="02020603050405020304" pitchFamily="18" charset="0"/>
              </a:rPr>
              <a:t>": String,</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googleId</a:t>
            </a:r>
            <a:r>
              <a:rPr lang="en-IN" sz="2000" dirty="0">
                <a:latin typeface="Times New Roman" panose="02020603050405020304" pitchFamily="18" charset="0"/>
                <a:cs typeface="Times New Roman" panose="02020603050405020304" pitchFamily="18" charset="0"/>
              </a:rPr>
              <a:t>": String,</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profilePicture</a:t>
            </a:r>
            <a:r>
              <a:rPr lang="en-IN" sz="2000" dirty="0">
                <a:latin typeface="Times New Roman" panose="02020603050405020304" pitchFamily="18" charset="0"/>
                <a:cs typeface="Times New Roman" panose="02020603050405020304" pitchFamily="18" charset="0"/>
              </a:rPr>
              <a:t>": String,</a:t>
            </a:r>
          </a:p>
        </p:txBody>
      </p:sp>
      <p:sp>
        <p:nvSpPr>
          <p:cNvPr id="9" name="TextBox 8">
            <a:extLst>
              <a:ext uri="{FF2B5EF4-FFF2-40B4-BE49-F238E27FC236}">
                <a16:creationId xmlns:a16="http://schemas.microsoft.com/office/drawing/2014/main" id="{3ABB4CCA-F9C2-B7D6-168B-2E20B95C1110}"/>
              </a:ext>
            </a:extLst>
          </p:cNvPr>
          <p:cNvSpPr txBox="1"/>
          <p:nvPr/>
        </p:nvSpPr>
        <p:spPr>
          <a:xfrm>
            <a:off x="6096000" y="1265507"/>
            <a:ext cx="6094070" cy="3477875"/>
          </a:xfrm>
          <a:prstGeom prst="rect">
            <a:avLst/>
          </a:prstGeom>
          <a:noFill/>
        </p:spPr>
        <p:txBody>
          <a:bodyPr wrap="square">
            <a:spAutoFit/>
          </a:bodyPr>
          <a:lstStyle/>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isActive</a:t>
            </a:r>
            <a:r>
              <a:rPr lang="en-IN" sz="2000" dirty="0">
                <a:latin typeface="Times New Roman" panose="02020603050405020304" pitchFamily="18" charset="0"/>
                <a:cs typeface="Times New Roman" panose="02020603050405020304" pitchFamily="18" charset="0"/>
              </a:rPr>
              <a:t>": Boolean,</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emailVerified</a:t>
            </a:r>
            <a:r>
              <a:rPr lang="en-IN" sz="2000" dirty="0">
                <a:latin typeface="Times New Roman" panose="02020603050405020304" pitchFamily="18" charset="0"/>
                <a:cs typeface="Times New Roman" panose="02020603050405020304" pitchFamily="18" charset="0"/>
              </a:rPr>
              <a:t>": Boolean,</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phoneVerified</a:t>
            </a:r>
            <a:r>
              <a:rPr lang="en-IN" sz="2000" dirty="0">
                <a:latin typeface="Times New Roman" panose="02020603050405020304" pitchFamily="18" charset="0"/>
                <a:cs typeface="Times New Roman" panose="02020603050405020304" pitchFamily="18" charset="0"/>
              </a:rPr>
              <a:t>": Boolean,</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lastLogin</a:t>
            </a:r>
            <a:r>
              <a:rPr lang="en-IN" sz="2000" dirty="0">
                <a:latin typeface="Times New Roman" panose="02020603050405020304" pitchFamily="18" charset="0"/>
                <a:cs typeface="Times New Roman" panose="02020603050405020304" pitchFamily="18" charset="0"/>
              </a:rPr>
              <a:t>": Date,</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createdAt</a:t>
            </a:r>
            <a:r>
              <a:rPr lang="en-IN" sz="2000" dirty="0">
                <a:latin typeface="Times New Roman" panose="02020603050405020304" pitchFamily="18" charset="0"/>
                <a:cs typeface="Times New Roman" panose="02020603050405020304" pitchFamily="18" charset="0"/>
              </a:rPr>
              <a:t>": Date,</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"__v": Number</a:t>
            </a:r>
          </a:p>
          <a:p>
            <a:r>
              <a:rPr lang="en-IN"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73329143"/>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2A17B-DF70-C7A8-E5CB-8AEE4614A1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D1C85E-2C46-0654-4891-BF7B02D556A3}"/>
              </a:ext>
            </a:extLst>
          </p:cNvPr>
          <p:cNvSpPr>
            <a:spLocks noGrp="1"/>
          </p:cNvSpPr>
          <p:nvPr>
            <p:ph type="title"/>
          </p:nvPr>
        </p:nvSpPr>
        <p:spPr>
          <a:xfrm>
            <a:off x="609600" y="176028"/>
            <a:ext cx="10972800" cy="714737"/>
          </a:xfrm>
        </p:spPr>
        <p:txBody>
          <a:bodyPr/>
          <a:lstStyle/>
          <a:p>
            <a:pPr algn="ctr"/>
            <a:r>
              <a:rPr lang="en-IN" dirty="0">
                <a:solidFill>
                  <a:srgbClr val="FF0000"/>
                </a:solidFill>
                <a:latin typeface="Times New Roman" panose="02020603050405020304" pitchFamily="18" charset="0"/>
                <a:cs typeface="Times New Roman" panose="02020603050405020304" pitchFamily="18" charset="0"/>
              </a:rPr>
              <a:t>SDG GOALS</a:t>
            </a:r>
          </a:p>
        </p:txBody>
      </p:sp>
      <p:sp>
        <p:nvSpPr>
          <p:cNvPr id="8" name="Rectangle 2">
            <a:extLst>
              <a:ext uri="{FF2B5EF4-FFF2-40B4-BE49-F238E27FC236}">
                <a16:creationId xmlns:a16="http://schemas.microsoft.com/office/drawing/2014/main" id="{7BF8B6DA-C590-436E-0BB3-FE2DFC06A42C}"/>
              </a:ext>
            </a:extLst>
          </p:cNvPr>
          <p:cNvSpPr>
            <a:spLocks noGrp="1" noChangeArrowheads="1"/>
          </p:cNvSpPr>
          <p:nvPr>
            <p:ph idx="1"/>
          </p:nvPr>
        </p:nvSpPr>
        <p:spPr bwMode="auto">
          <a:xfrm>
            <a:off x="1020339" y="1670022"/>
            <a:ext cx="10782119"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SDG 8 – Decent Work and Economic Growth</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business growth and improves efficiency through digital systems.</a:t>
            </a:r>
          </a:p>
          <a:p>
            <a:pPr marR="0" lvl="0" algn="just"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SDG 9 – Industry, Innovation and Infrastructure</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Encourages the use of modern technology in construction material management.</a:t>
            </a:r>
          </a:p>
          <a:p>
            <a:pPr marR="0" lvl="0" algn="just"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SDG 11 – Sustainable Cities and Communities</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in timely supply of construction materials for sustainable urban development.</a:t>
            </a:r>
          </a:p>
          <a:p>
            <a:pPr marR="0" lvl="0" algn="just"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SDG 16 – Peace, Justice and Strong Institutions</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ecure transactions through proper records and billing.</a:t>
            </a:r>
          </a:p>
        </p:txBody>
      </p:sp>
    </p:spTree>
    <p:extLst>
      <p:ext uri="{BB962C8B-B14F-4D97-AF65-F5344CB8AC3E}">
        <p14:creationId xmlns:p14="http://schemas.microsoft.com/office/powerpoint/2010/main" val="269875405"/>
      </p:ext>
    </p:extLst>
  </p:cSld>
  <p:clrMapOvr>
    <a:masterClrMapping/>
  </p:clrMapOvr>
  <p:transition spd="slow">
    <p:push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9740</TotalTime>
  <Words>1671</Words>
  <Application>Microsoft Office PowerPoint</Application>
  <PresentationFormat>Widescreen</PresentationFormat>
  <Paragraphs>257</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Times New Roman</vt:lpstr>
      <vt:lpstr>Wingdings</vt:lpstr>
      <vt:lpstr>Wingdings 2</vt:lpstr>
      <vt:lpstr>Flow</vt:lpstr>
      <vt:lpstr>PowerPoint Presentation</vt:lpstr>
      <vt:lpstr>PowerPoint Presentation</vt:lpstr>
      <vt:lpstr>PROBLEM STATEMENTS</vt:lpstr>
      <vt:lpstr>PROPOSED SYSTEM </vt:lpstr>
      <vt:lpstr>SPECIFICATIONS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SDG GOALS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balaji hariharan</cp:lastModifiedBy>
  <cp:revision>189</cp:revision>
  <dcterms:created xsi:type="dcterms:W3CDTF">2023-09-01T10:41:25Z</dcterms:created>
  <dcterms:modified xsi:type="dcterms:W3CDTF">2026-01-04T12:08:30Z</dcterms:modified>
</cp:coreProperties>
</file>